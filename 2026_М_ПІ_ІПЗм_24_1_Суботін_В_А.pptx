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0"/>
  </p:notesMasterIdLst>
  <p:sldIdLst>
    <p:sldId id="256" r:id="rId2"/>
    <p:sldId id="257" r:id="rId3"/>
    <p:sldId id="259" r:id="rId4"/>
    <p:sldId id="262" r:id="rId5"/>
    <p:sldId id="273" r:id="rId6"/>
    <p:sldId id="260" r:id="rId7"/>
    <p:sldId id="272" r:id="rId8"/>
    <p:sldId id="270" r:id="rId9"/>
    <p:sldId id="263" r:id="rId10"/>
    <p:sldId id="271" r:id="rId11"/>
    <p:sldId id="283" r:id="rId12"/>
    <p:sldId id="288" r:id="rId13"/>
    <p:sldId id="289" r:id="rId14"/>
    <p:sldId id="290" r:id="rId15"/>
    <p:sldId id="291" r:id="rId16"/>
    <p:sldId id="287" r:id="rId17"/>
    <p:sldId id="285" r:id="rId18"/>
    <p:sldId id="286" r:id="rId19"/>
  </p:sldIdLst>
  <p:sldSz cx="9144000" cy="5143500" type="screen16x9"/>
  <p:notesSz cx="6858000" cy="9144000"/>
  <p:embeddedFontLst>
    <p:embeddedFont>
      <p:font typeface="Economica" panose="020B0604020202020204" charset="0"/>
      <p:regular r:id="rId21"/>
      <p:bold r:id="rId22"/>
      <p:italic r:id="rId23"/>
      <p:boldItalic r:id="rId24"/>
    </p:embeddedFont>
    <p:embeddedFont>
      <p:font typeface="Open Sans" panose="020B0606030504020204" pitchFamily="34" charset="0"/>
      <p:regular r:id="rId25"/>
      <p:bold r:id="rId26"/>
      <p:italic r:id="rId27"/>
      <p:boldItalic r:id="rId2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386"/>
    <p:restoredTop sz="94694"/>
  </p:normalViewPr>
  <p:slideViewPr>
    <p:cSldViewPr snapToGrid="0">
      <p:cViewPr varScale="1">
        <p:scale>
          <a:sx n="65" d="100"/>
          <a:sy n="65" d="100"/>
        </p:scale>
        <p:origin x="58" y="70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font" Target="fonts/font8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font" Target="fonts/font7.fntdata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138185529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20ddf966691_0_1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20ddf966691_0_1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2e16b2adad1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2e16b2adad1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2e16b2adad1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2e16b2adad1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2e16b2adad1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2e16b2adad1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7687001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2e16b2adad1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2e16b2adad1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2e16b2adad1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2e16b2adad1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6173352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2e16b2adad1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2e16b2adad1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2249586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2e16b2adad1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2e16b2adad1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2e16b2adad1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2e16b2adad1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7060495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2e16b2adad1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2e16b2adad1_0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0978350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>
          <a:extLst>
            <a:ext uri="{FF2B5EF4-FFF2-40B4-BE49-F238E27FC236}">
              <a16:creationId xmlns:a16="http://schemas.microsoft.com/office/drawing/2014/main" id="{360158C5-49DA-D58E-7F95-5202D648CE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2e16b2adad1_0_35:notes">
            <a:extLst>
              <a:ext uri="{FF2B5EF4-FFF2-40B4-BE49-F238E27FC236}">
                <a16:creationId xmlns:a16="http://schemas.microsoft.com/office/drawing/2014/main" id="{A50BB298-12AE-0E99-D044-7C8C54E3954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2e16b2adad1_0_35:notes">
            <a:extLst>
              <a:ext uri="{FF2B5EF4-FFF2-40B4-BE49-F238E27FC236}">
                <a16:creationId xmlns:a16="http://schemas.microsoft.com/office/drawing/2014/main" id="{17B3F41D-3BE3-16A6-C271-269C65A2951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3970309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>
          <a:extLst>
            <a:ext uri="{FF2B5EF4-FFF2-40B4-BE49-F238E27FC236}">
              <a16:creationId xmlns:a16="http://schemas.microsoft.com/office/drawing/2014/main" id="{8503F66F-1FA3-4555-57A8-6B33BFE78C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2e16b2adad1_0_35:notes">
            <a:extLst>
              <a:ext uri="{FF2B5EF4-FFF2-40B4-BE49-F238E27FC236}">
                <a16:creationId xmlns:a16="http://schemas.microsoft.com/office/drawing/2014/main" id="{EE621DC1-E099-34B2-2B25-9CDF4E8BC34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2e16b2adad1_0_35:notes">
            <a:extLst>
              <a:ext uri="{FF2B5EF4-FFF2-40B4-BE49-F238E27FC236}">
                <a16:creationId xmlns:a16="http://schemas.microsoft.com/office/drawing/2014/main" id="{5489AD25-7F27-5EA5-439F-A5C70D54892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1229924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>
          <a:extLst>
            <a:ext uri="{FF2B5EF4-FFF2-40B4-BE49-F238E27FC236}">
              <a16:creationId xmlns:a16="http://schemas.microsoft.com/office/drawing/2014/main" id="{774CA0E1-AD52-89AC-FABD-BB6E7F2F5A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2e16b2adad1_0_35:notes">
            <a:extLst>
              <a:ext uri="{FF2B5EF4-FFF2-40B4-BE49-F238E27FC236}">
                <a16:creationId xmlns:a16="http://schemas.microsoft.com/office/drawing/2014/main" id="{28ACB645-2DF1-5F84-CB83-FA76BDEF2CD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2e16b2adad1_0_35:notes">
            <a:extLst>
              <a:ext uri="{FF2B5EF4-FFF2-40B4-BE49-F238E27FC236}">
                <a16:creationId xmlns:a16="http://schemas.microsoft.com/office/drawing/2014/main" id="{C1ABB9A1-BF82-8929-2EB3-4748C079D1B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5236247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>
          <a:extLst>
            <a:ext uri="{FF2B5EF4-FFF2-40B4-BE49-F238E27FC236}">
              <a16:creationId xmlns:a16="http://schemas.microsoft.com/office/drawing/2014/main" id="{3284EFB0-1B92-0C63-1CF9-0A47E892D6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2e16b2adad1_0_35:notes">
            <a:extLst>
              <a:ext uri="{FF2B5EF4-FFF2-40B4-BE49-F238E27FC236}">
                <a16:creationId xmlns:a16="http://schemas.microsoft.com/office/drawing/2014/main" id="{6E859ABB-257E-B55D-7130-594F5717186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2e16b2adad1_0_35:notes">
            <a:extLst>
              <a:ext uri="{FF2B5EF4-FFF2-40B4-BE49-F238E27FC236}">
                <a16:creationId xmlns:a16="http://schemas.microsoft.com/office/drawing/2014/main" id="{01CE215C-BFCD-C1CC-FBEE-A73D19FE071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6695155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>
          <a:extLst>
            <a:ext uri="{FF2B5EF4-FFF2-40B4-BE49-F238E27FC236}">
              <a16:creationId xmlns:a16="http://schemas.microsoft.com/office/drawing/2014/main" id="{AE75D865-DCAF-92FF-BBDE-2316790C05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2e16b2adad1_0_35:notes">
            <a:extLst>
              <a:ext uri="{FF2B5EF4-FFF2-40B4-BE49-F238E27FC236}">
                <a16:creationId xmlns:a16="http://schemas.microsoft.com/office/drawing/2014/main" id="{8522FD01-423F-CA6C-8682-6D0DD9239E5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2e16b2adad1_0_35:notes">
            <a:extLst>
              <a:ext uri="{FF2B5EF4-FFF2-40B4-BE49-F238E27FC236}">
                <a16:creationId xmlns:a16="http://schemas.microsoft.com/office/drawing/2014/main" id="{307A4ED5-6487-C417-4C04-3908D155639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9740041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2e16b2adad1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2e16b2adad1_0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5602373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>
          <a:extLst>
            <a:ext uri="{FF2B5EF4-FFF2-40B4-BE49-F238E27FC236}">
              <a16:creationId xmlns:a16="http://schemas.microsoft.com/office/drawing/2014/main" id="{94CCE8A3-BEE1-FA72-8AB1-761CE9E384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2e16b2adad1_0_35:notes">
            <a:extLst>
              <a:ext uri="{FF2B5EF4-FFF2-40B4-BE49-F238E27FC236}">
                <a16:creationId xmlns:a16="http://schemas.microsoft.com/office/drawing/2014/main" id="{A0070E64-6846-B7D2-89F9-4A74BA69799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2e16b2adad1_0_35:notes">
            <a:extLst>
              <a:ext uri="{FF2B5EF4-FFF2-40B4-BE49-F238E27FC236}">
                <a16:creationId xmlns:a16="http://schemas.microsoft.com/office/drawing/2014/main" id="{82A65E2B-36FF-D434-33F7-A86C72F9695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834960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2744013" y="756700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/>
          <a:lstStyle/>
          <a:p>
            <a:endParaRPr lang="uk-UA"/>
          </a:p>
        </p:txBody>
      </p:sp>
      <p:sp>
        <p:nvSpPr>
          <p:cNvPr id="11" name="Google Shape;11;p2"/>
          <p:cNvSpPr/>
          <p:nvPr/>
        </p:nvSpPr>
        <p:spPr>
          <a:xfrm rot="10800000">
            <a:off x="5318350" y="3266725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/>
          <a:lstStyle/>
          <a:p>
            <a:endParaRPr lang="uk-UA"/>
          </a:p>
        </p:txBody>
      </p:sp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‹№›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 flipH="1">
            <a:off x="7595938" y="460225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7" name="Google Shape;17;p3"/>
          <p:cNvSpPr/>
          <p:nvPr/>
        </p:nvSpPr>
        <p:spPr>
          <a:xfrm rot="10800000" flipH="1">
            <a:off x="466425" y="3558325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‹№›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‹№›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39999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body" idx="2"/>
          </p:nvPr>
        </p:nvSpPr>
        <p:spPr>
          <a:xfrm>
            <a:off x="4832400" y="1225225"/>
            <a:ext cx="39999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‹№›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‹№›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35" name="Google Shape;35;p7"/>
          <p:cNvSpPr txBox="1">
            <a:spLocks noGrp="1"/>
          </p:cNvSpPr>
          <p:nvPr>
            <p:ph type="body" idx="1"/>
          </p:nvPr>
        </p:nvSpPr>
        <p:spPr>
          <a:xfrm>
            <a:off x="311700" y="1399400"/>
            <a:ext cx="2808000" cy="278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6" name="Google Shape;36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‹№›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5878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0" name="Google Shape;40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‹№›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3" name="Google Shape;43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4" name="Google Shape;44;p9"/>
          <p:cNvSpPr txBox="1">
            <a:spLocks noGrp="1"/>
          </p:cNvSpPr>
          <p:nvPr>
            <p:ph type="title"/>
          </p:nvPr>
        </p:nvSpPr>
        <p:spPr>
          <a:xfrm>
            <a:off x="265500" y="929275"/>
            <a:ext cx="4045200" cy="178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45" name="Google Shape;45;p9"/>
          <p:cNvSpPr txBox="1">
            <a:spLocks noGrp="1"/>
          </p:cNvSpPr>
          <p:nvPr>
            <p:ph type="subTitle" idx="1"/>
          </p:nvPr>
        </p:nvSpPr>
        <p:spPr>
          <a:xfrm>
            <a:off x="265500" y="2769001"/>
            <a:ext cx="4045200" cy="157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endParaRPr/>
          </a:p>
        </p:txBody>
      </p:sp>
      <p:sp>
        <p:nvSpPr>
          <p:cNvPr id="46" name="Google Shape;46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7" name="Google Shape;47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‹№›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 txBox="1">
            <a:spLocks noGrp="1"/>
          </p:cNvSpPr>
          <p:nvPr>
            <p:ph type="body" idx="1"/>
          </p:nvPr>
        </p:nvSpPr>
        <p:spPr>
          <a:xfrm>
            <a:off x="319500" y="4218925"/>
            <a:ext cx="5998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</a:lstStyle>
          <a:p>
            <a:endParaRPr/>
          </a:p>
        </p:txBody>
      </p:sp>
      <p:sp>
        <p:nvSpPr>
          <p:cNvPr id="50" name="Google Shape;50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‹№›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53;p11"/>
          <p:cNvSpPr txBox="1">
            <a:spLocks noGrp="1"/>
          </p:cNvSpPr>
          <p:nvPr>
            <p:ph type="title" hasCustomPrompt="1"/>
          </p:nvPr>
        </p:nvSpPr>
        <p:spPr>
          <a:xfrm>
            <a:off x="311700" y="957125"/>
            <a:ext cx="8520600" cy="212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4" name="Google Shape;54;p11"/>
          <p:cNvSpPr txBox="1">
            <a:spLocks noGrp="1"/>
          </p:cNvSpPr>
          <p:nvPr>
            <p:ph type="body" idx="1"/>
          </p:nvPr>
        </p:nvSpPr>
        <p:spPr>
          <a:xfrm>
            <a:off x="311700" y="3162000"/>
            <a:ext cx="8520600" cy="107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5" name="Google Shape;55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‹№›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‹№›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luxe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‹№›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8.png"/><Relationship Id="rId4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9.png"/><Relationship Id="rId4" Type="http://schemas.openxmlformats.org/officeDocument/2006/relationships/image" Target="../media/image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>
            <a:spLocks noGrp="1"/>
          </p:cNvSpPr>
          <p:nvPr>
            <p:ph type="ctrTitle"/>
          </p:nvPr>
        </p:nvSpPr>
        <p:spPr>
          <a:xfrm>
            <a:off x="1422569" y="1937385"/>
            <a:ext cx="6298862" cy="1512134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Кваліфікаційна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робота</a:t>
            </a:r>
            <a:b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Спеціальність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121 –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Інженерія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програмного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забезпечення</a:t>
            </a:r>
            <a:b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Дослідження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трансформерних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моделей у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секвенційних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рекомендаційних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системах з метою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визначення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найефективніших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моделей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3" name="Google Shape;63;p13"/>
          <p:cNvSpPr txBox="1">
            <a:spLocks noGrp="1"/>
          </p:cNvSpPr>
          <p:nvPr>
            <p:ph type="subTitle" idx="1"/>
          </p:nvPr>
        </p:nvSpPr>
        <p:spPr>
          <a:xfrm>
            <a:off x="6038359" y="3498919"/>
            <a:ext cx="3366143" cy="164458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Виконав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ст. гр. ІПЗм-24-1 Суботін В.А.</a:t>
            </a: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lang="ru-RU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Керівник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к.т.н., доцент каф. ПІ </a:t>
            </a:r>
            <a:r>
              <a:rPr lang="ru-RU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Лещинська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І.О.</a:t>
            </a:r>
          </a:p>
        </p:txBody>
      </p:sp>
      <p:pic>
        <p:nvPicPr>
          <p:cNvPr id="64" name="Google Shape;6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4725" y="170825"/>
            <a:ext cx="2133975" cy="389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068504" y="170825"/>
            <a:ext cx="1924921" cy="439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4"/>
          <p:cNvSpPr txBox="1">
            <a:spLocks noGrp="1"/>
          </p:cNvSpPr>
          <p:nvPr>
            <p:ph type="title"/>
          </p:nvPr>
        </p:nvSpPr>
        <p:spPr>
          <a:xfrm>
            <a:off x="1409154" y="99939"/>
            <a:ext cx="6325692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Актуальність дослідження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2" name="Google Shape;72;p14"/>
          <p:cNvSpPr txBox="1">
            <a:spLocks noGrp="1"/>
          </p:cNvSpPr>
          <p:nvPr>
            <p:ph type="body" idx="1"/>
          </p:nvPr>
        </p:nvSpPr>
        <p:spPr>
          <a:xfrm>
            <a:off x="268924" y="1187362"/>
            <a:ext cx="8593721" cy="312686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algn="just">
              <a:buFont typeface="Symbol" panose="05050102010706020507" pitchFamily="18" charset="2"/>
              <a:buChar char=""/>
            </a:pPr>
            <a:r>
              <a:rPr lang="ru-RU" sz="18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сучасні</a:t>
            </a:r>
            <a:r>
              <a:rPr lang="ru-RU" sz="1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18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цифрові</a:t>
            </a:r>
            <a:r>
              <a:rPr lang="ru-RU" sz="1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18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сервіси</a:t>
            </a:r>
            <a:r>
              <a:rPr lang="ru-RU" sz="1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активно </a:t>
            </a:r>
            <a:r>
              <a:rPr lang="ru-RU" sz="18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використовують</a:t>
            </a:r>
            <a:r>
              <a:rPr lang="ru-RU" sz="1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18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персоналізовані</a:t>
            </a:r>
            <a:r>
              <a:rPr lang="ru-RU" sz="1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18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рекомендації</a:t>
            </a:r>
            <a:r>
              <a:rPr lang="ru-RU" sz="1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</a:p>
          <a:p>
            <a:pPr algn="just">
              <a:buFont typeface="Symbol" panose="05050102010706020507" pitchFamily="18" charset="2"/>
              <a:buChar char=""/>
            </a:pPr>
            <a:r>
              <a:rPr lang="ru-RU" sz="18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поведінка</a:t>
            </a:r>
            <a:r>
              <a:rPr lang="ru-RU" sz="1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18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користувачів</a:t>
            </a:r>
            <a:r>
              <a:rPr lang="ru-RU" sz="1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18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має</a:t>
            </a:r>
            <a:r>
              <a:rPr lang="ru-RU" sz="1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18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часову</a:t>
            </a:r>
            <a:r>
              <a:rPr lang="ru-RU" sz="1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структуру та </a:t>
            </a:r>
            <a:r>
              <a:rPr lang="ru-RU" sz="18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динамічний</a:t>
            </a:r>
            <a:r>
              <a:rPr lang="ru-RU" sz="1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характер;</a:t>
            </a:r>
          </a:p>
          <a:p>
            <a:pPr algn="just">
              <a:buFont typeface="Symbol" panose="05050102010706020507" pitchFamily="18" charset="2"/>
              <a:buChar char=""/>
            </a:pPr>
            <a:r>
              <a:rPr lang="ru-RU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к</a:t>
            </a:r>
            <a:r>
              <a:rPr lang="ru-RU" sz="18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ласичні</a:t>
            </a:r>
            <a:r>
              <a:rPr lang="ru-RU" sz="1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18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рекомендаційні</a:t>
            </a:r>
            <a:r>
              <a:rPr lang="ru-RU" sz="1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18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методи</a:t>
            </a:r>
            <a:r>
              <a:rPr lang="ru-RU" sz="1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18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недостатньо</a:t>
            </a:r>
            <a:r>
              <a:rPr lang="ru-RU" sz="1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18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ефективні</a:t>
            </a:r>
            <a:r>
              <a:rPr lang="ru-RU" sz="1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для </a:t>
            </a:r>
            <a:r>
              <a:rPr lang="ru-RU" sz="18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моделювання</a:t>
            </a:r>
            <a:r>
              <a:rPr lang="ru-RU" sz="1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18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довгострокових</a:t>
            </a:r>
            <a:r>
              <a:rPr lang="ru-RU" sz="1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18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залежностей</a:t>
            </a: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</a:rPr>
              <a:t>;</a:t>
            </a:r>
            <a:endParaRPr lang="ru-RU" sz="18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buFont typeface="Symbol" panose="05050102010706020507" pitchFamily="18" charset="2"/>
              <a:buChar char=""/>
            </a:pPr>
            <a:r>
              <a:rPr lang="ru-RU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т</a:t>
            </a:r>
            <a:r>
              <a:rPr lang="ru-RU" sz="18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рансформерні</a:t>
            </a:r>
            <a:r>
              <a:rPr lang="ru-RU" sz="1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18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моделі</a:t>
            </a:r>
            <a:r>
              <a:rPr lang="ru-RU" sz="1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18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дозволяють</a:t>
            </a:r>
            <a:r>
              <a:rPr lang="ru-RU" sz="1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18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враховувати</a:t>
            </a:r>
            <a:r>
              <a:rPr lang="ru-RU" sz="1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18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глобальні</a:t>
            </a:r>
            <a:r>
              <a:rPr lang="ru-RU" sz="1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18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залежності</a:t>
            </a:r>
            <a:r>
              <a:rPr lang="ru-RU" sz="1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18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між</a:t>
            </a:r>
            <a:r>
              <a:rPr lang="ru-RU" sz="1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18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елементами</a:t>
            </a:r>
            <a:r>
              <a:rPr lang="ru-RU" sz="1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18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послідовності</a:t>
            </a: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</a:rPr>
              <a:t>;</a:t>
            </a:r>
            <a:endParaRPr lang="ru-RU" sz="18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buFont typeface="Symbol" panose="05050102010706020507" pitchFamily="18" charset="2"/>
              <a:buChar char=""/>
            </a:pP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</a:rPr>
              <a:t>а</a:t>
            </a:r>
            <a:r>
              <a:rPr lang="ru-RU" sz="1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ктуальною </a:t>
            </a:r>
            <a:r>
              <a:rPr lang="ru-RU" sz="18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залишається</a:t>
            </a:r>
            <a:r>
              <a:rPr lang="ru-RU" sz="1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проблема </a:t>
            </a:r>
            <a:r>
              <a:rPr lang="ru-RU" sz="18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вибору</a:t>
            </a:r>
            <a:r>
              <a:rPr lang="ru-RU" sz="1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18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оптимальної</a:t>
            </a:r>
            <a:r>
              <a:rPr lang="ru-RU" sz="1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18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трансформерної</a:t>
            </a:r>
            <a:r>
              <a:rPr lang="ru-RU" sz="1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18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архітектури</a:t>
            </a:r>
            <a:r>
              <a:rPr lang="ru-RU" sz="1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з </a:t>
            </a:r>
            <a:r>
              <a:rPr lang="ru-RU" sz="18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урахуванням</a:t>
            </a:r>
            <a:r>
              <a:rPr lang="ru-RU" sz="1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18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точності</a:t>
            </a:r>
            <a:r>
              <a:rPr lang="ru-RU" sz="1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18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рекомендацій</a:t>
            </a:r>
            <a:r>
              <a:rPr lang="ru-RU" sz="1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ru-RU" sz="18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обчислювальних</a:t>
            </a:r>
            <a:r>
              <a:rPr lang="ru-RU" sz="1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18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витрат</a:t>
            </a: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ru-RU" sz="18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масштабованості</a:t>
            </a:r>
            <a:r>
              <a:rPr lang="ru-RU" sz="1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та</a:t>
            </a: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18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стабільності</a:t>
            </a:r>
            <a:r>
              <a:rPr lang="ru-RU" sz="1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18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роботи</a:t>
            </a:r>
            <a:r>
              <a:rPr lang="ru-RU" sz="1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en-US" sz="18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73" name="Google Shape;73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F341B41-E99B-3086-FE3C-5601958757E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 sz="1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fld>
            <a:endParaRPr lang="uk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6"/>
          <p:cNvSpPr txBox="1">
            <a:spLocks noGrp="1"/>
          </p:cNvSpPr>
          <p:nvPr>
            <p:ph type="title"/>
          </p:nvPr>
        </p:nvSpPr>
        <p:spPr>
          <a:xfrm>
            <a:off x="726831" y="155837"/>
            <a:ext cx="792894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lvl="0"/>
            <a:r>
              <a:rPr lang="uk-UA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Мета та завдання дослідження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6" name="Google Shape;86;p16"/>
          <p:cNvSpPr txBox="1">
            <a:spLocks noGrp="1"/>
          </p:cNvSpPr>
          <p:nvPr>
            <p:ph type="body" idx="1"/>
          </p:nvPr>
        </p:nvSpPr>
        <p:spPr>
          <a:xfrm>
            <a:off x="268925" y="940628"/>
            <a:ext cx="8635969" cy="326224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32385" indent="0" algn="just">
              <a:lnSpc>
                <a:spcPct val="100000"/>
              </a:lnSpc>
              <a:buSzPts val="1400"/>
              <a:buNone/>
              <a:tabLst>
                <a:tab pos="630555" algn="l"/>
              </a:tabLst>
            </a:pPr>
            <a:r>
              <a:rPr lang="uk-UA" sz="1730" dirty="0">
                <a:latin typeface="Times New Roman" panose="02020603050405020304" pitchFamily="18" charset="0"/>
                <a:ea typeface="Times New Roman" panose="02020603050405020304" pitchFamily="18" charset="0"/>
              </a:rPr>
              <a:t>Об’єкт – процес формування рекомендацій в </a:t>
            </a:r>
            <a:r>
              <a:rPr lang="uk-UA" sz="173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секвенційних</a:t>
            </a:r>
            <a:r>
              <a:rPr lang="uk-UA" sz="173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рекомендаційних системах.</a:t>
            </a:r>
          </a:p>
          <a:p>
            <a:pPr marL="0" marR="32385" indent="0" algn="just">
              <a:lnSpc>
                <a:spcPct val="100000"/>
              </a:lnSpc>
              <a:buSzPts val="1400"/>
              <a:buNone/>
              <a:tabLst>
                <a:tab pos="630555" algn="l"/>
              </a:tabLst>
            </a:pPr>
            <a:r>
              <a:rPr lang="uk-UA" sz="1750" dirty="0">
                <a:latin typeface="Times New Roman" panose="02020603050405020304" pitchFamily="18" charset="0"/>
                <a:ea typeface="Times New Roman" panose="02020603050405020304" pitchFamily="18" charset="0"/>
              </a:rPr>
              <a:t>Предмет – моделі, засновані на </a:t>
            </a:r>
            <a:r>
              <a:rPr lang="uk-UA" sz="175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трансформерній</a:t>
            </a:r>
            <a:r>
              <a:rPr lang="uk-UA" sz="175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архітектурі.</a:t>
            </a:r>
          </a:p>
          <a:p>
            <a:pPr marL="0" marR="32385" indent="0" algn="just">
              <a:lnSpc>
                <a:spcPct val="100000"/>
              </a:lnSpc>
              <a:buSzPts val="1400"/>
              <a:buNone/>
              <a:tabLst>
                <a:tab pos="630555" algn="l"/>
              </a:tabLst>
            </a:pPr>
            <a:r>
              <a:rPr lang="uk-UA" dirty="0">
                <a:latin typeface="Times New Roman" panose="02020603050405020304" pitchFamily="18" charset="0"/>
                <a:ea typeface="Times New Roman" panose="02020603050405020304" pitchFamily="18" charset="0"/>
              </a:rPr>
              <a:t>Мета – дослідження ефективності використання </a:t>
            </a:r>
            <a:r>
              <a:rPr lang="uk-UA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трансформерних</a:t>
            </a:r>
            <a:r>
              <a:rPr lang="uk-UA" dirty="0">
                <a:latin typeface="Times New Roman" panose="02020603050405020304" pitchFamily="18" charset="0"/>
                <a:ea typeface="Times New Roman" panose="02020603050405020304" pitchFamily="18" charset="0"/>
              </a:rPr>
              <a:t> моделей для побудови </a:t>
            </a:r>
            <a:r>
              <a:rPr lang="uk-UA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секвенційних</a:t>
            </a:r>
            <a:r>
              <a:rPr lang="uk-UA" dirty="0">
                <a:latin typeface="Times New Roman" panose="02020603050405020304" pitchFamily="18" charset="0"/>
                <a:ea typeface="Times New Roman" panose="02020603050405020304" pitchFamily="18" charset="0"/>
              </a:rPr>
              <a:t> рекомендаційних систем.</a:t>
            </a:r>
          </a:p>
          <a:p>
            <a:pPr marL="0" marR="32385" indent="0" algn="just">
              <a:lnSpc>
                <a:spcPct val="100000"/>
              </a:lnSpc>
              <a:buSzPts val="1400"/>
              <a:buNone/>
              <a:tabLst>
                <a:tab pos="630555" algn="l"/>
              </a:tabLst>
            </a:pPr>
            <a:r>
              <a:rPr lang="uk-UA" dirty="0">
                <a:latin typeface="Times New Roman" panose="02020603050405020304" pitchFamily="18" charset="0"/>
                <a:ea typeface="Times New Roman" panose="02020603050405020304" pitchFamily="18" charset="0"/>
              </a:rPr>
              <a:t>Завдання:</a:t>
            </a:r>
          </a:p>
          <a:p>
            <a:pPr marL="285750" marR="32385" indent="-285750" algn="just">
              <a:lnSpc>
                <a:spcPct val="100000"/>
              </a:lnSpc>
              <a:buSzPts val="1400"/>
              <a:buFont typeface="Symbol" panose="05050102010706020507" pitchFamily="18" charset="2"/>
              <a:buChar char="-"/>
              <a:tabLst>
                <a:tab pos="630555" algn="l"/>
              </a:tabLst>
            </a:pPr>
            <a:r>
              <a:rPr lang="uk-UA" dirty="0">
                <a:latin typeface="Times New Roman" panose="02020603050405020304" pitchFamily="18" charset="0"/>
                <a:ea typeface="Times New Roman" panose="02020603050405020304" pitchFamily="18" charset="0"/>
              </a:rPr>
              <a:t>аналіз предметної області </a:t>
            </a:r>
            <a:r>
              <a:rPr lang="uk-UA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секвенційних</a:t>
            </a:r>
            <a:r>
              <a:rPr lang="uk-UA" dirty="0">
                <a:latin typeface="Times New Roman" panose="02020603050405020304" pitchFamily="18" charset="0"/>
                <a:ea typeface="Times New Roman" panose="02020603050405020304" pitchFamily="18" charset="0"/>
              </a:rPr>
              <a:t> рекомендаційних систем;</a:t>
            </a:r>
          </a:p>
          <a:p>
            <a:pPr marL="285750" marR="32385" indent="-285750" algn="just">
              <a:lnSpc>
                <a:spcPct val="100000"/>
              </a:lnSpc>
              <a:buSzPts val="1400"/>
              <a:buFont typeface="Symbol" panose="05050102010706020507" pitchFamily="18" charset="2"/>
              <a:buChar char="-"/>
              <a:tabLst>
                <a:tab pos="630555" algn="l"/>
              </a:tabLst>
            </a:pPr>
            <a:r>
              <a:rPr lang="uk-UA" dirty="0">
                <a:latin typeface="Times New Roman" panose="02020603050405020304" pitchFamily="18" charset="0"/>
                <a:ea typeface="Times New Roman" panose="02020603050405020304" pitchFamily="18" charset="0"/>
              </a:rPr>
              <a:t>огляд сучасних наукових підходів;</a:t>
            </a:r>
          </a:p>
          <a:p>
            <a:pPr marL="285750" marR="32385" indent="-285750" algn="just">
              <a:lnSpc>
                <a:spcPct val="100000"/>
              </a:lnSpc>
              <a:buSzPts val="1400"/>
              <a:buFont typeface="Symbol" panose="05050102010706020507" pitchFamily="18" charset="2"/>
              <a:buChar char="-"/>
              <a:tabLst>
                <a:tab pos="630555" algn="l"/>
              </a:tabLst>
            </a:pPr>
            <a:r>
              <a:rPr lang="uk-UA" dirty="0">
                <a:latin typeface="Times New Roman" panose="02020603050405020304" pitchFamily="18" charset="0"/>
                <a:ea typeface="Times New Roman" panose="02020603050405020304" pitchFamily="18" charset="0"/>
              </a:rPr>
              <a:t>аналіз </a:t>
            </a:r>
            <a:r>
              <a:rPr lang="uk-UA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трансформерних</a:t>
            </a:r>
            <a:r>
              <a:rPr lang="uk-UA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uk-UA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архітектур</a:t>
            </a:r>
            <a:r>
              <a:rPr lang="uk-UA" dirty="0">
                <a:latin typeface="Times New Roman" panose="02020603050405020304" pitchFamily="18" charset="0"/>
                <a:ea typeface="Times New Roman" panose="02020603050405020304" pitchFamily="18" charset="0"/>
              </a:rPr>
              <a:t>;</a:t>
            </a:r>
          </a:p>
          <a:p>
            <a:pPr marL="285750" marR="32385" indent="-285750" algn="just">
              <a:lnSpc>
                <a:spcPct val="100000"/>
              </a:lnSpc>
              <a:buSzPts val="1400"/>
              <a:buFont typeface="Symbol" panose="05050102010706020507" pitchFamily="18" charset="2"/>
              <a:buChar char="-"/>
              <a:tabLst>
                <a:tab pos="630555" algn="l"/>
              </a:tabLst>
            </a:pPr>
            <a:r>
              <a:rPr lang="uk-UA" dirty="0">
                <a:latin typeface="Times New Roman" panose="02020603050405020304" pitchFamily="18" charset="0"/>
                <a:ea typeface="Times New Roman" panose="02020603050405020304" pitchFamily="18" charset="0"/>
              </a:rPr>
              <a:t>проведення експериментального дослідження;</a:t>
            </a:r>
          </a:p>
          <a:p>
            <a:pPr marL="285750" marR="32385" indent="-285750" algn="just">
              <a:lnSpc>
                <a:spcPct val="100000"/>
              </a:lnSpc>
              <a:buSzPts val="1400"/>
              <a:buFont typeface="Symbol" panose="05050102010706020507" pitchFamily="18" charset="2"/>
              <a:buChar char="-"/>
              <a:tabLst>
                <a:tab pos="630555" algn="l"/>
              </a:tabLst>
            </a:pPr>
            <a:r>
              <a:rPr lang="uk-UA" dirty="0">
                <a:latin typeface="Times New Roman" panose="02020603050405020304" pitchFamily="18" charset="0"/>
                <a:ea typeface="Times New Roman" panose="02020603050405020304" pitchFamily="18" charset="0"/>
              </a:rPr>
              <a:t>аналіз отриманих результатів.</a:t>
            </a:r>
          </a:p>
        </p:txBody>
      </p:sp>
      <p:pic>
        <p:nvPicPr>
          <p:cNvPr id="87" name="Google Shape;8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B4B60CC4-E5DD-FCCF-1B7D-8C3F29E9B85E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</p:spPr>
        <p:txBody>
          <a:bodyPr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 sz="1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fld>
            <a:endParaRPr lang="uk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92;p17">
            <a:extLst>
              <a:ext uri="{FF2B5EF4-FFF2-40B4-BE49-F238E27FC236}">
                <a16:creationId xmlns:a16="http://schemas.microsoft.com/office/drawing/2014/main" id="{1DD13922-8256-1DBA-1E6A-7A7E32F7C6B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86683"/>
            <a:ext cx="9144000" cy="1566271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uk-UA" dirty="0">
                <a:solidFill>
                  <a:srgbClr val="2626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Предметна область дослідження </a:t>
            </a:r>
            <a:r>
              <a:rPr lang="en-US" dirty="0">
                <a:solidFill>
                  <a:srgbClr val="2626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lang="uk-UA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Секвенційні</a:t>
            </a:r>
            <a:r>
              <a:rPr lang="uk-UA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рекомендаційні системи</a:t>
            </a:r>
            <a:b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lide Number Placeholder 3">
            <a:extLst>
              <a:ext uri="{FF2B5EF4-FFF2-40B4-BE49-F238E27FC236}">
                <a16:creationId xmlns:a16="http://schemas.microsoft.com/office/drawing/2014/main" id="{5BF92C3F-A4ED-1673-0D1E-10EE61551B9F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</p:spPr>
        <p:txBody>
          <a:bodyPr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 sz="1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fld>
            <a:endParaRPr lang="uk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AFD1849-5B1C-E455-7301-BC9E27427F74}"/>
              </a:ext>
            </a:extLst>
          </p:cNvPr>
          <p:cNvSpPr txBox="1"/>
          <p:nvPr/>
        </p:nvSpPr>
        <p:spPr>
          <a:xfrm>
            <a:off x="268925" y="1234055"/>
            <a:ext cx="8594216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Задача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</a:t>
            </a:r>
            <a:r>
              <a:rPr lang="uk-UA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рогнозування</a:t>
            </a:r>
            <a:r>
              <a:rPr lang="uk-UA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наступного об’єкта взаємодії користувача на основі історії його дій.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uk-UA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Основні особливості: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Symbol" panose="05050102010706020507" pitchFamily="18" charset="2"/>
              <a:buChar char="-"/>
            </a:pPr>
            <a:r>
              <a:rPr lang="uk-UA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динамічність поведінки користувачів;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Symbol" panose="05050102010706020507" pitchFamily="18" charset="2"/>
              <a:buChar char="-"/>
            </a:pPr>
            <a:r>
              <a:rPr lang="uk-UA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наявність короткострокових і довгострокових </a:t>
            </a:r>
            <a:r>
              <a:rPr lang="uk-UA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залежностей</a:t>
            </a:r>
            <a:r>
              <a:rPr lang="uk-UA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Symbol" panose="05050102010706020507" pitchFamily="18" charset="2"/>
              <a:buChar char="-"/>
            </a:pPr>
            <a:r>
              <a:rPr lang="uk-UA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розрідженість даних;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Symbol" panose="05050102010706020507" pitchFamily="18" charset="2"/>
              <a:buChar char="-"/>
            </a:pPr>
            <a:r>
              <a:rPr lang="uk-UA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необхідність масштабованості.</a:t>
            </a:r>
          </a:p>
          <a:p>
            <a:pPr lvl="2"/>
            <a:r>
              <a:rPr lang="uk-UA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Секвенційні</a:t>
            </a:r>
            <a:r>
              <a:rPr lang="uk-UA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рекомендаційні системи враховують: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3" indent="-285750">
              <a:buFont typeface="Symbol" panose="05050102010706020507" pitchFamily="18" charset="2"/>
              <a:buChar char="-"/>
            </a:pPr>
            <a:r>
              <a:rPr lang="uk-UA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порядок взаємодій користувача;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3" indent="-285750">
              <a:buFont typeface="Symbol" panose="05050102010706020507" pitchFamily="18" charset="2"/>
              <a:buChar char="-"/>
            </a:pPr>
            <a:r>
              <a:rPr lang="uk-UA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часові залежності;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4" indent="-285750">
              <a:buFont typeface="Symbol" panose="05050102010706020507" pitchFamily="18" charset="2"/>
              <a:buChar char="-"/>
            </a:pPr>
            <a:r>
              <a:rPr lang="uk-UA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зміну інтересів у часі.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Google Shape;94;p17">
            <a:extLst>
              <a:ext uri="{FF2B5EF4-FFF2-40B4-BE49-F238E27FC236}">
                <a16:creationId xmlns:a16="http://schemas.microsoft.com/office/drawing/2014/main" id="{CC245FDA-AC4B-DF0C-29BC-F6FF19F7D0F7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92;p17">
            <a:extLst>
              <a:ext uri="{FF2B5EF4-FFF2-40B4-BE49-F238E27FC236}">
                <a16:creationId xmlns:a16="http://schemas.microsoft.com/office/drawing/2014/main" id="{1DD13922-8256-1DBA-1E6A-7A7E32F7C6B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98186" y="110670"/>
            <a:ext cx="8704412" cy="694375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uk-UA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Аналіз існуючих підходів</a:t>
            </a:r>
            <a:endParaRPr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6DE914E-5891-C7BD-238B-C5232D122EB4}"/>
              </a:ext>
            </a:extLst>
          </p:cNvPr>
          <p:cNvSpPr txBox="1"/>
          <p:nvPr/>
        </p:nvSpPr>
        <p:spPr>
          <a:xfrm>
            <a:off x="298186" y="1201135"/>
            <a:ext cx="8388614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Рекурентні моделі (</a:t>
            </a:r>
            <a:r>
              <a:rPr lang="af-ZA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RNN, GRU):</a:t>
            </a:r>
          </a:p>
          <a:p>
            <a:pPr marL="285750" indent="-285750">
              <a:buFont typeface="Symbol" panose="05050102010706020507" pitchFamily="18" charset="2"/>
              <a:buChar char="-"/>
            </a:pPr>
            <a:r>
              <a:rPr lang="uk-UA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ефективні для коротких послідовностей; </a:t>
            </a:r>
          </a:p>
          <a:p>
            <a:pPr marL="285750" indent="-285750">
              <a:buFont typeface="Symbol" panose="05050102010706020507" pitchFamily="18" charset="2"/>
              <a:buChar char="-"/>
            </a:pPr>
            <a:r>
              <a:rPr lang="uk-UA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складно моделюють довгострокові залежності. </a:t>
            </a:r>
          </a:p>
          <a:p>
            <a:r>
              <a:rPr lang="uk-UA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Згорткові моделі (</a:t>
            </a:r>
            <a:r>
              <a:rPr lang="af-ZA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CNN):</a:t>
            </a:r>
          </a:p>
          <a:p>
            <a:pPr marL="285750" indent="-285750">
              <a:buFont typeface="Symbol" panose="05050102010706020507" pitchFamily="18" charset="2"/>
              <a:buChar char="-"/>
            </a:pPr>
            <a:r>
              <a:rPr lang="uk-UA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швидші за рекурентні; </a:t>
            </a:r>
          </a:p>
          <a:p>
            <a:pPr marL="285750" indent="-285750">
              <a:buFont typeface="Symbol" panose="05050102010706020507" pitchFamily="18" charset="2"/>
              <a:buChar char="-"/>
            </a:pPr>
            <a:r>
              <a:rPr lang="uk-UA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обмежена гнучкість аналізу контексту. </a:t>
            </a:r>
          </a:p>
          <a:p>
            <a:r>
              <a:rPr lang="uk-UA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Трансформерні</a:t>
            </a:r>
            <a:r>
              <a:rPr lang="uk-UA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моделі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uk-UA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Symbol" panose="05050102010706020507" pitchFamily="18" charset="2"/>
              <a:buChar char="-"/>
            </a:pPr>
            <a:r>
              <a:rPr lang="uk-UA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використовують механізм </a:t>
            </a:r>
            <a:r>
              <a:rPr lang="af-ZA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self-attention; </a:t>
            </a:r>
          </a:p>
          <a:p>
            <a:pPr marL="285750" indent="-285750">
              <a:buFont typeface="Symbol" panose="05050102010706020507" pitchFamily="18" charset="2"/>
              <a:buChar char="-"/>
            </a:pPr>
            <a:r>
              <a:rPr lang="uk-UA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враховують глобальні залежності; </a:t>
            </a:r>
          </a:p>
          <a:p>
            <a:pPr marL="285750" indent="-285750">
              <a:buFont typeface="Symbol" panose="05050102010706020507" pitchFamily="18" charset="2"/>
              <a:buChar char="-"/>
            </a:pPr>
            <a:r>
              <a:rPr lang="uk-UA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забезпечують високу якість рекомендацій.</a:t>
            </a:r>
          </a:p>
        </p:txBody>
      </p:sp>
      <p:sp>
        <p:nvSpPr>
          <p:cNvPr id="15" name="Slide Number Placeholder 3">
            <a:extLst>
              <a:ext uri="{FF2B5EF4-FFF2-40B4-BE49-F238E27FC236}">
                <a16:creationId xmlns:a16="http://schemas.microsoft.com/office/drawing/2014/main" id="{5BF92C3F-A4ED-1673-0D1E-10EE61551B9F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</p:spPr>
        <p:txBody>
          <a:bodyPr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 sz="1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fld>
            <a:endParaRPr lang="uk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Google Shape;94;p17">
            <a:extLst>
              <a:ext uri="{FF2B5EF4-FFF2-40B4-BE49-F238E27FC236}">
                <a16:creationId xmlns:a16="http://schemas.microsoft.com/office/drawing/2014/main" id="{4323DE51-2053-C025-C294-8D5D074E32FA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409731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7"/>
          <p:cNvSpPr txBox="1">
            <a:spLocks noGrp="1"/>
          </p:cNvSpPr>
          <p:nvPr>
            <p:ph type="title"/>
          </p:nvPr>
        </p:nvSpPr>
        <p:spPr>
          <a:xfrm>
            <a:off x="311700" y="50393"/>
            <a:ext cx="8704412" cy="817658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 algn="ctr"/>
            <a:r>
              <a:rPr lang="uk-UA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Аналіз </a:t>
            </a:r>
            <a:r>
              <a:rPr lang="uk-UA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трансформерних</a:t>
            </a:r>
            <a:r>
              <a:rPr lang="uk-UA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моделей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3" name="Google Shape;93;p17"/>
          <p:cNvSpPr txBox="1">
            <a:spLocks noGrp="1"/>
          </p:cNvSpPr>
          <p:nvPr>
            <p:ph type="body" idx="1"/>
          </p:nvPr>
        </p:nvSpPr>
        <p:spPr>
          <a:xfrm>
            <a:off x="311700" y="738555"/>
            <a:ext cx="8520600" cy="362094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marL="114300" indent="0" algn="just">
              <a:lnSpc>
                <a:spcPct val="120000"/>
              </a:lnSpc>
              <a:buNone/>
            </a:pP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SASRec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  <a:buFont typeface="Symbol" panose="05050102010706020507" pitchFamily="18" charset="2"/>
              <a:buChar char="-"/>
            </a:pPr>
            <a:r>
              <a:rPr lang="uk-UA" dirty="0" err="1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автогресивна</a:t>
            </a:r>
            <a:r>
              <a:rPr lang="uk-UA" dirty="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uk-UA" dirty="0" err="1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трансформерна</a:t>
            </a:r>
            <a:r>
              <a:rPr lang="uk-UA" dirty="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модель;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  <a:buFont typeface="Symbol" panose="05050102010706020507" pitchFamily="18" charset="2"/>
              <a:buChar char="-"/>
            </a:pPr>
            <a:r>
              <a:rPr lang="uk-UA" dirty="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використовує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causal masking;</a:t>
            </a:r>
          </a:p>
          <a:p>
            <a:pPr algn="just">
              <a:lnSpc>
                <a:spcPct val="120000"/>
              </a:lnSpc>
              <a:buFont typeface="Symbol" panose="05050102010706020507" pitchFamily="18" charset="2"/>
              <a:buChar char="-"/>
            </a:pPr>
            <a:r>
              <a:rPr lang="uk-UA" dirty="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добре працює з короткими та середніми послідовностями.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 algn="just">
              <a:lnSpc>
                <a:spcPct val="120000"/>
              </a:lnSpc>
              <a:buNone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BERT4Rec</a:t>
            </a:r>
          </a:p>
          <a:p>
            <a:pPr algn="just">
              <a:lnSpc>
                <a:spcPct val="120000"/>
              </a:lnSpc>
              <a:buFont typeface="Symbol" panose="05050102010706020507" pitchFamily="18" charset="2"/>
              <a:buChar char="-"/>
            </a:pPr>
            <a:r>
              <a:rPr lang="uk-UA" dirty="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двостороння </a:t>
            </a:r>
            <a:r>
              <a:rPr lang="uk-UA" dirty="0" err="1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трансформерна</a:t>
            </a:r>
            <a:r>
              <a:rPr lang="uk-UA" dirty="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модель;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  <a:buFont typeface="Symbol" panose="05050102010706020507" pitchFamily="18" charset="2"/>
              <a:buChar char="-"/>
            </a:pPr>
            <a:r>
              <a:rPr lang="uk-UA" dirty="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використовує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masked item prediction;</a:t>
            </a:r>
          </a:p>
          <a:p>
            <a:pPr algn="just">
              <a:lnSpc>
                <a:spcPct val="120000"/>
              </a:lnSpc>
              <a:buFont typeface="Symbol" panose="05050102010706020507" pitchFamily="18" charset="2"/>
              <a:buChar char="-"/>
            </a:pPr>
            <a:r>
              <a:rPr lang="uk-UA" dirty="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краще враховує контекст послідовності.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 algn="just">
              <a:lnSpc>
                <a:spcPct val="120000"/>
              </a:lnSpc>
              <a:buNone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S³-Rec</a:t>
            </a:r>
          </a:p>
          <a:p>
            <a:pPr algn="just">
              <a:lnSpc>
                <a:spcPct val="120000"/>
              </a:lnSpc>
              <a:buFont typeface="Symbol" panose="05050102010706020507" pitchFamily="18" charset="2"/>
              <a:buChar char="-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self-supervised </a:t>
            </a:r>
            <a:r>
              <a:rPr lang="uk-UA" dirty="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підхід;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  <a:buFont typeface="Symbol" panose="05050102010706020507" pitchFamily="18" charset="2"/>
              <a:buChar char="-"/>
            </a:pPr>
            <a:r>
              <a:rPr lang="uk-UA" dirty="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використовує допоміжні задачі навчання;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  <a:buFont typeface="Symbol" panose="05050102010706020507" pitchFamily="18" charset="2"/>
              <a:buChar char="-"/>
            </a:pPr>
            <a:r>
              <a:rPr lang="uk-UA" dirty="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ефективний для розріджених даних.</a:t>
            </a:r>
          </a:p>
        </p:txBody>
      </p:sp>
      <p:pic>
        <p:nvPicPr>
          <p:cNvPr id="94" name="Google Shape;9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F5A510-FA14-7D01-2A41-1EF26EAA3617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</p:spPr>
        <p:txBody>
          <a:bodyPr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 sz="1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fld>
            <a:endParaRPr lang="uk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92;p17">
            <a:extLst>
              <a:ext uri="{FF2B5EF4-FFF2-40B4-BE49-F238E27FC236}">
                <a16:creationId xmlns:a16="http://schemas.microsoft.com/office/drawing/2014/main" id="{1DD13922-8256-1DBA-1E6A-7A7E32F7C6B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98186" y="110670"/>
            <a:ext cx="8704412" cy="694375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uk-UA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Постановка задачі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дослідження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6DE914E-5891-C7BD-238B-C5232D122EB4}"/>
              </a:ext>
            </a:extLst>
          </p:cNvPr>
          <p:cNvSpPr txBox="1"/>
          <p:nvPr/>
        </p:nvSpPr>
        <p:spPr>
          <a:xfrm>
            <a:off x="574431" y="863590"/>
            <a:ext cx="8324089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</a:t>
            </a:r>
            <a:r>
              <a:rPr 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ета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експерименту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визначення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найбільш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ефективної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трансформерної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архітектури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для </a:t>
            </a:r>
            <a:r>
              <a:rPr 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секвенційних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рекомендацій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Етапи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експерименту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uk-UA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Symbol" panose="05050102010706020507" pitchFamily="18" charset="2"/>
              <a:buChar char=""/>
            </a:pPr>
            <a:r>
              <a:rPr lang="uk-UA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розробка програмного застосунку для проведення дослідження</a:t>
            </a:r>
          </a:p>
          <a:p>
            <a:pPr marL="285750" indent="-285750">
              <a:buFont typeface="Symbol" panose="05050102010706020507" pitchFamily="18" charset="2"/>
              <a:buChar char=""/>
            </a:pPr>
            <a:r>
              <a:rPr lang="uk-UA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підготовка </a:t>
            </a:r>
            <a:r>
              <a:rPr lang="uk-UA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датасетів</a:t>
            </a:r>
            <a:r>
              <a:rPr lang="uk-UA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285750" indent="-285750">
              <a:buFont typeface="Symbol" panose="05050102010706020507" pitchFamily="18" charset="2"/>
              <a:buChar char=""/>
            </a:pPr>
            <a:r>
              <a:rPr lang="uk-UA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попередня обробка даних;</a:t>
            </a:r>
          </a:p>
          <a:p>
            <a:pPr marL="285750" indent="-285750">
              <a:buFont typeface="Symbol" panose="05050102010706020507" pitchFamily="18" charset="2"/>
              <a:buChar char=""/>
            </a:pPr>
            <a:r>
              <a:rPr lang="uk-UA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налаштування конфігурацій моделей;</a:t>
            </a:r>
          </a:p>
          <a:p>
            <a:pPr marL="285750" indent="-285750">
              <a:buFont typeface="Symbol" panose="05050102010706020507" pitchFamily="18" charset="2"/>
              <a:buChar char=""/>
            </a:pPr>
            <a:r>
              <a:rPr lang="uk-UA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навчання моделей;</a:t>
            </a:r>
          </a:p>
          <a:p>
            <a:pPr marL="285750" indent="-285750">
              <a:buFont typeface="Symbol" panose="05050102010706020507" pitchFamily="18" charset="2"/>
              <a:buChar char=""/>
            </a:pPr>
            <a:r>
              <a:rPr lang="uk-UA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оцінка результатів;</a:t>
            </a:r>
          </a:p>
          <a:p>
            <a:pPr marL="285750" indent="-285750">
              <a:buFont typeface="Symbol" panose="05050102010706020507" pitchFamily="18" charset="2"/>
              <a:buChar char=""/>
            </a:pPr>
            <a:r>
              <a:rPr lang="uk-UA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порівняльний аналіз моделей;</a:t>
            </a:r>
          </a:p>
          <a:p>
            <a:pPr marL="285750" indent="-285750">
              <a:buFont typeface="Symbol" panose="05050102010706020507" pitchFamily="18" charset="2"/>
              <a:buChar char=""/>
            </a:pPr>
            <a:r>
              <a:rPr lang="uk-UA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надання рекомендацій щодо застосування.</a:t>
            </a:r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Критерії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оцінювання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HR@K, NDCG@K.</a:t>
            </a:r>
          </a:p>
        </p:txBody>
      </p:sp>
      <p:sp>
        <p:nvSpPr>
          <p:cNvPr id="15" name="Slide Number Placeholder 3">
            <a:extLst>
              <a:ext uri="{FF2B5EF4-FFF2-40B4-BE49-F238E27FC236}">
                <a16:creationId xmlns:a16="http://schemas.microsoft.com/office/drawing/2014/main" id="{5BF92C3F-A4ED-1673-0D1E-10EE61551B9F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</p:spPr>
        <p:txBody>
          <a:bodyPr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 sz="1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fld>
            <a:endParaRPr lang="uk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Google Shape;94;p17">
            <a:extLst>
              <a:ext uri="{FF2B5EF4-FFF2-40B4-BE49-F238E27FC236}">
                <a16:creationId xmlns:a16="http://schemas.microsoft.com/office/drawing/2014/main" id="{D8966FE0-7E8B-B211-9D52-533E180AD057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4535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92;p17">
            <a:extLst>
              <a:ext uri="{FF2B5EF4-FFF2-40B4-BE49-F238E27FC236}">
                <a16:creationId xmlns:a16="http://schemas.microsoft.com/office/drawing/2014/main" id="{1DD13922-8256-1DBA-1E6A-7A7E32F7C6B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76240" y="127184"/>
            <a:ext cx="8704412" cy="880064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Програмний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застосунок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для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проведення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дослідження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F0B1477-9937-3F20-40B2-1C8EAB41668A}"/>
              </a:ext>
            </a:extLst>
          </p:cNvPr>
          <p:cNvSpPr txBox="1"/>
          <p:nvPr/>
        </p:nvSpPr>
        <p:spPr>
          <a:xfrm>
            <a:off x="276240" y="3568927"/>
            <a:ext cx="829962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Python 3.12, Django 6.0., </a:t>
            </a:r>
            <a:r>
              <a:rPr lang="en-US" sz="2000" dirty="0" err="1"/>
              <a:t>RecBole</a:t>
            </a:r>
            <a:r>
              <a:rPr lang="ru-RU" sz="2000" dirty="0"/>
              <a:t> 1.2.1</a:t>
            </a:r>
            <a:endParaRPr lang="x-none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Google Shape;94;p17">
            <a:extLst>
              <a:ext uri="{FF2B5EF4-FFF2-40B4-BE49-F238E27FC236}">
                <a16:creationId xmlns:a16="http://schemas.microsoft.com/office/drawing/2014/main" id="{237F1921-846E-7C96-C087-67172FF245E2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Slide Number Placeholder 3">
            <a:extLst>
              <a:ext uri="{FF2B5EF4-FFF2-40B4-BE49-F238E27FC236}">
                <a16:creationId xmlns:a16="http://schemas.microsoft.com/office/drawing/2014/main" id="{F9E1C805-9048-F190-EBD3-CAD78AB6048E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</p:spPr>
        <p:txBody>
          <a:bodyPr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 sz="1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fld>
            <a:endParaRPr lang="uk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FF87A839-A7D6-37BE-C630-AC375A86033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3191" y="1217091"/>
            <a:ext cx="7717617" cy="23420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2541041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0"/>
          <p:cNvSpPr txBox="1">
            <a:spLocks noGrp="1"/>
          </p:cNvSpPr>
          <p:nvPr>
            <p:ph type="title"/>
          </p:nvPr>
        </p:nvSpPr>
        <p:spPr>
          <a:xfrm>
            <a:off x="311700" y="202249"/>
            <a:ext cx="8520600" cy="756041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Виб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ір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датасетів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4" name="Google Shape;114;p20"/>
          <p:cNvSpPr txBox="1">
            <a:spLocks noGrp="1"/>
          </p:cNvSpPr>
          <p:nvPr>
            <p:ph type="body" idx="1"/>
          </p:nvPr>
        </p:nvSpPr>
        <p:spPr>
          <a:xfrm>
            <a:off x="497458" y="1146173"/>
            <a:ext cx="8334842" cy="317976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4300" indent="0">
              <a:buNone/>
            </a:pPr>
            <a:r>
              <a:rPr lang="af-ZA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Amazon (Beauty, Sports, Toys)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af-ZA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Symbol" panose="05050102010706020507" pitchFamily="18" charset="2"/>
              <a:buChar char="-"/>
            </a:pPr>
            <a:r>
              <a:rPr lang="af-ZA" dirty="0">
                <a:latin typeface="Times New Roman" panose="02020603050405020304" pitchFamily="18" charset="0"/>
                <a:cs typeface="Times New Roman" panose="02020603050405020304" pitchFamily="18" charset="0"/>
              </a:rPr>
              <a:t>e-commerce </a:t>
            </a:r>
            <a:r>
              <a:rPr lang="uk-UA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датасети</a:t>
            </a:r>
            <a:r>
              <a:rPr lang="uk-UA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f-ZA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Amazon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af-ZA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Symbol" panose="05050102010706020507" pitchFamily="18" charset="2"/>
              <a:buChar char="-"/>
            </a:pPr>
            <a:r>
              <a:rPr lang="uk-UA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розріджені послідовності взаємодій; 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uk-UA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велика кількість товарів;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uk-UA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перевірка масштабованості моделей. </a:t>
            </a:r>
          </a:p>
          <a:p>
            <a:pPr marL="114300" indent="0">
              <a:buNone/>
            </a:pPr>
            <a:r>
              <a:rPr lang="af-ZA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af-ZA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Symbol" panose="05050102010706020507" pitchFamily="18" charset="2"/>
              <a:buChar char="-"/>
            </a:pPr>
            <a:r>
              <a:rPr lang="uk-UA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взаємодії користувачів з іграми;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Symbol" panose="05050102010706020507" pitchFamily="18" charset="2"/>
              <a:buChar char="-"/>
            </a:pPr>
            <a:r>
              <a:rPr lang="uk-UA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довгі поведінкові послідовності;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Symbol" panose="05050102010706020507" pitchFamily="18" charset="2"/>
              <a:buChar char="-"/>
            </a:pPr>
            <a:r>
              <a:rPr lang="uk-UA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динамічна зміна інтересів;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Symbol" panose="05050102010706020507" pitchFamily="18" charset="2"/>
              <a:buChar char="-"/>
            </a:pPr>
            <a:r>
              <a:rPr lang="uk-UA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аналіз якості персоналізації.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12091FA-014C-BBFC-B0D9-989D0A04AE32}"/>
              </a:ext>
            </a:extLst>
          </p:cNvPr>
          <p:cNvSpPr txBox="1"/>
          <p:nvPr/>
        </p:nvSpPr>
        <p:spPr>
          <a:xfrm>
            <a:off x="5025542" y="1207346"/>
            <a:ext cx="3262579" cy="22159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af-ZA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Yelp</a:t>
            </a:r>
            <a:r>
              <a:rPr lang="ru-RU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af-ZA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Symbol" panose="05050102010706020507" pitchFamily="18" charset="2"/>
              <a:buChar char="-"/>
            </a:pPr>
            <a:r>
              <a:rPr lang="uk-UA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взаємодії користувачів із сервісами;</a:t>
            </a:r>
          </a:p>
          <a:p>
            <a:pPr marL="285750" indent="-285750">
              <a:buFont typeface="Symbol" panose="05050102010706020507" pitchFamily="18" charset="2"/>
              <a:buChar char="-"/>
            </a:pPr>
            <a:r>
              <a:rPr lang="uk-UA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динамічна поведінка користувачів; </a:t>
            </a:r>
          </a:p>
          <a:p>
            <a:pPr marL="285750" indent="-285750">
              <a:buFont typeface="Symbol" panose="05050102010706020507" pitchFamily="18" charset="2"/>
              <a:buChar char="-"/>
            </a:pPr>
            <a:r>
              <a:rPr lang="uk-UA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неоднорідні послідовності;</a:t>
            </a:r>
          </a:p>
          <a:p>
            <a:pPr marL="285750" indent="-285750">
              <a:buFont typeface="Symbol" panose="05050102010706020507" pitchFamily="18" charset="2"/>
              <a:buChar char="-"/>
            </a:pPr>
            <a:r>
              <a:rPr lang="uk-UA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аналіз стійкості моделей.</a:t>
            </a:r>
          </a:p>
          <a:p>
            <a:pPr indent="0" algn="just">
              <a:lnSpc>
                <a:spcPct val="100000"/>
              </a:lnSpc>
              <a:buNone/>
            </a:pPr>
            <a:endParaRPr lang="x-none" sz="1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30159A66-8141-E616-0B57-98CD36719307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</p:spPr>
        <p:txBody>
          <a:bodyPr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 sz="1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fld>
            <a:endParaRPr lang="uk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7A6B698-F99E-CAE0-3760-36FF6BF314AE}"/>
              </a:ext>
            </a:extLst>
          </p:cNvPr>
          <p:cNvCxnSpPr>
            <a:cxnSpLocks/>
          </p:cNvCxnSpPr>
          <p:nvPr/>
        </p:nvCxnSpPr>
        <p:spPr>
          <a:xfrm>
            <a:off x="4829908" y="1232085"/>
            <a:ext cx="0" cy="32186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Google Shape;94;p17">
            <a:extLst>
              <a:ext uri="{FF2B5EF4-FFF2-40B4-BE49-F238E27FC236}">
                <a16:creationId xmlns:a16="http://schemas.microsoft.com/office/drawing/2014/main" id="{5A177767-B892-5FDB-D4A6-8907D955CB55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9664" y="4450773"/>
            <a:ext cx="725936" cy="4977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0"/>
          <p:cNvSpPr txBox="1">
            <a:spLocks noGrp="1"/>
          </p:cNvSpPr>
          <p:nvPr>
            <p:ph type="title"/>
          </p:nvPr>
        </p:nvSpPr>
        <p:spPr>
          <a:xfrm>
            <a:off x="-1" y="202249"/>
            <a:ext cx="9143999" cy="756041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 algn="ctr"/>
            <a:r>
              <a:rPr lang="uk-UA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Налаштування конфігурації моделей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4" name="Google Shape;114;p20"/>
          <p:cNvSpPr txBox="1">
            <a:spLocks noGrp="1"/>
          </p:cNvSpPr>
          <p:nvPr>
            <p:ph type="body" idx="1"/>
          </p:nvPr>
        </p:nvSpPr>
        <p:spPr>
          <a:xfrm>
            <a:off x="5343270" y="1024508"/>
            <a:ext cx="3403538" cy="383550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0215" indent="0" algn="just">
              <a:lnSpc>
                <a:spcPct val="100000"/>
              </a:lnSpc>
              <a:buNone/>
            </a:pPr>
            <a:r>
              <a:rPr lang="uk-UA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Параметри конфігурації:</a:t>
            </a:r>
          </a:p>
          <a:p>
            <a:pPr lvl="0">
              <a:buFont typeface="Symbol" panose="05050102010706020507" pitchFamily="18" charset="2"/>
              <a:buChar char=""/>
            </a:pP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embedding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size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64;</a:t>
            </a:r>
            <a:endParaRPr lang="uk-UA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buFont typeface="Symbol" panose="05050102010706020507" pitchFamily="18" charset="2"/>
              <a:buChar char=""/>
            </a:pP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hidden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size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64;</a:t>
            </a:r>
            <a:endParaRPr lang="uk-UA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buFont typeface="Symbol" panose="05050102010706020507" pitchFamily="18" charset="2"/>
              <a:buChar char=""/>
            </a:pP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num_layers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2;</a:t>
            </a:r>
            <a:endParaRPr lang="uk-UA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buFont typeface="Symbol" panose="05050102010706020507" pitchFamily="18" charset="2"/>
              <a:buChar char=""/>
            </a:pP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num_heads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2;</a:t>
            </a:r>
            <a:endParaRPr lang="uk-UA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buFont typeface="Symbol" panose="05050102010706020507" pitchFamily="18" charset="2"/>
              <a:buChar char=""/>
            </a:pP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dropout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0.2;</a:t>
            </a:r>
            <a:endParaRPr lang="uk-UA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buFont typeface="Symbol" panose="05050102010706020507" pitchFamily="18" charset="2"/>
              <a:buChar char=""/>
            </a:pP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optimizer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Adam;</a:t>
            </a:r>
            <a:endParaRPr lang="uk-UA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buFont typeface="Symbol" panose="05050102010706020507" pitchFamily="18" charset="2"/>
              <a:buChar char=""/>
            </a:pP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learning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rate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0.001;</a:t>
            </a:r>
            <a:endParaRPr lang="uk-UA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buFont typeface="Symbol" panose="05050102010706020507" pitchFamily="18" charset="2"/>
              <a:buChar char=""/>
            </a:pP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batch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size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256;</a:t>
            </a:r>
            <a:endParaRPr lang="uk-UA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buFont typeface="Symbol" panose="05050102010706020507" pitchFamily="18" charset="2"/>
              <a:buChar char=""/>
            </a:pP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epochs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200.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30159A66-8141-E616-0B57-98CD36719307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</p:spPr>
        <p:txBody>
          <a:bodyPr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 sz="1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fld>
            <a:endParaRPr lang="uk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6" name="Google Shape;94;p17">
            <a:extLst>
              <a:ext uri="{FF2B5EF4-FFF2-40B4-BE49-F238E27FC236}">
                <a16:creationId xmlns:a16="http://schemas.microsoft.com/office/drawing/2014/main" id="{E90F9BB4-9013-F9F9-D262-8DBF546EE4B6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9664" y="4450773"/>
            <a:ext cx="725936" cy="497793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114;p20">
            <a:extLst>
              <a:ext uri="{FF2B5EF4-FFF2-40B4-BE49-F238E27FC236}">
                <a16:creationId xmlns:a16="http://schemas.microsoft.com/office/drawing/2014/main" id="{5DB0D0D8-54DB-0780-0366-827AABD4AAB7}"/>
              </a:ext>
            </a:extLst>
          </p:cNvPr>
          <p:cNvSpPr txBox="1">
            <a:spLocks/>
          </p:cNvSpPr>
          <p:nvPr/>
        </p:nvSpPr>
        <p:spPr>
          <a:xfrm>
            <a:off x="239664" y="958290"/>
            <a:ext cx="4982307" cy="38355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114300" indent="0">
              <a:buNone/>
            </a:pPr>
            <a:r>
              <a:rPr lang="ru-RU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Однакові</a:t>
            </a: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умови</a:t>
            </a: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експерименту</a:t>
            </a: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14300" indent="0">
              <a:buNone/>
            </a:pPr>
            <a:r>
              <a:rPr lang="ru-RU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Порівняння</a:t>
            </a: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</a:rPr>
              <a:t> моделей у </a:t>
            </a:r>
            <a:r>
              <a:rPr lang="ru-RU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рівних</a:t>
            </a: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конфігураціях</a:t>
            </a: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14300" indent="0">
              <a:buNone/>
            </a:pPr>
            <a:r>
              <a:rPr lang="ru-RU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Оптимізація</a:t>
            </a: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параметрів</a:t>
            </a: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</a:rPr>
              <a:t> для </a:t>
            </a:r>
            <a:r>
              <a:rPr lang="ru-RU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стабільного</a:t>
            </a: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навчання</a:t>
            </a: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x-none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00043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1"/>
          <p:cNvSpPr txBox="1">
            <a:spLocks noGrp="1"/>
          </p:cNvSpPr>
          <p:nvPr>
            <p:ph type="title"/>
          </p:nvPr>
        </p:nvSpPr>
        <p:spPr>
          <a:xfrm>
            <a:off x="0" y="194934"/>
            <a:ext cx="9143999" cy="550839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 algn="ctr"/>
            <a:r>
              <a:rPr lang="uk-UA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Результати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навчання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на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датасеті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Amazon 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Beauty</a:t>
            </a:r>
            <a:endParaRPr lang="ru-RU" sz="32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D99309B-4316-727C-3CD4-B8C3999EC6E2}"/>
              </a:ext>
            </a:extLst>
          </p:cNvPr>
          <p:cNvSpPr txBox="1"/>
          <p:nvPr/>
        </p:nvSpPr>
        <p:spPr>
          <a:xfrm>
            <a:off x="461709" y="2130767"/>
            <a:ext cx="859953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S3Rec </a:t>
            </a:r>
            <a:r>
              <a:rPr 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перевершує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BERT4Rec на 8.3% за HR@10 та на 8.4% за NDCG@10.</a:t>
            </a:r>
            <a:b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Порівняно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з </a:t>
            </a:r>
            <a:r>
              <a:rPr 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SASRec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приріст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становить 8.8% за HR@10 та 6.5% за NDCG@10.</a:t>
            </a:r>
            <a:b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Найшвидше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навчання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демонструє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SASRec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1.084 год, </a:t>
            </a:r>
            <a:r>
              <a:rPr 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що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у 3.6 раза </a:t>
            </a:r>
            <a:r>
              <a:rPr 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швидше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за S3Rec.</a:t>
            </a:r>
            <a:endParaRPr lang="uk-UA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Google Shape;94;p17">
            <a:extLst>
              <a:ext uri="{FF2B5EF4-FFF2-40B4-BE49-F238E27FC236}">
                <a16:creationId xmlns:a16="http://schemas.microsoft.com/office/drawing/2014/main" id="{2CFE879C-5D78-8386-7683-AA25E3BA75D0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9664" y="4450773"/>
            <a:ext cx="725936" cy="497793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B868A5C-298C-9006-A0D2-8469BFA6E4C7}"/>
              </a:ext>
            </a:extLst>
          </p:cNvPr>
          <p:cNvSpPr txBox="1"/>
          <p:nvPr/>
        </p:nvSpPr>
        <p:spPr>
          <a:xfrm>
            <a:off x="8628186" y="4716091"/>
            <a:ext cx="43305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fld id="{00000000-1234-1234-1234-123412341234}" type="slidenum">
              <a:rPr lang="uk" sz="1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11</a:t>
            </a:fld>
            <a:endParaRPr lang="uk-UA" dirty="0"/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B3ECB1E3-213C-A702-CCD8-A1CF3CBB27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70053" y="745773"/>
            <a:ext cx="6468378" cy="1171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83082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>
          <a:extLst>
            <a:ext uri="{FF2B5EF4-FFF2-40B4-BE49-F238E27FC236}">
              <a16:creationId xmlns:a16="http://schemas.microsoft.com/office/drawing/2014/main" id="{A770B543-C0EC-879D-C873-70886770F0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1">
            <a:extLst>
              <a:ext uri="{FF2B5EF4-FFF2-40B4-BE49-F238E27FC236}">
                <a16:creationId xmlns:a16="http://schemas.microsoft.com/office/drawing/2014/main" id="{23113135-C439-ACDF-6781-2B7047CC0F8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194934"/>
            <a:ext cx="9143999" cy="550839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 algn="ctr"/>
            <a:r>
              <a:rPr lang="uk-UA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Результати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навчання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на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датасеті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Amazon Sports</a:t>
            </a:r>
            <a:endParaRPr lang="ru-RU" sz="32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6D95C84-2840-8963-C463-73FC9BF8E53C}"/>
              </a:ext>
            </a:extLst>
          </p:cNvPr>
          <p:cNvSpPr txBox="1"/>
          <p:nvPr/>
        </p:nvSpPr>
        <p:spPr>
          <a:xfrm>
            <a:off x="461709" y="2130767"/>
            <a:ext cx="859953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S3Rec </a:t>
            </a:r>
            <a:r>
              <a:rPr 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показує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перевагу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над BERT4Rec у 9.3% за HR@10 та 8.4% за NDCG@10.</a:t>
            </a:r>
          </a:p>
          <a:p>
            <a:r>
              <a:rPr 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Порівняно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з </a:t>
            </a:r>
            <a:r>
              <a:rPr 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SASRec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модель S3Rec </a:t>
            </a:r>
            <a:r>
              <a:rPr 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має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вищі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результати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на 10.4% за HR@10 та 6.4% за NDCG@10.</a:t>
            </a:r>
          </a:p>
          <a:p>
            <a:r>
              <a:rPr 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SASRec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навчається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найшвидше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0.963 год, </a:t>
            </a:r>
            <a:r>
              <a:rPr 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тоді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як S3Rec </a:t>
            </a:r>
            <a:r>
              <a:rPr 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потребує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3.284 год.</a:t>
            </a:r>
            <a:endParaRPr lang="uk-UA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Google Shape;94;p17">
            <a:extLst>
              <a:ext uri="{FF2B5EF4-FFF2-40B4-BE49-F238E27FC236}">
                <a16:creationId xmlns:a16="http://schemas.microsoft.com/office/drawing/2014/main" id="{023006B0-256B-C911-EE1C-EB829272F887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9664" y="4450773"/>
            <a:ext cx="725936" cy="497793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2C9F4DA-6B66-1F17-168F-BA034EC158BB}"/>
              </a:ext>
            </a:extLst>
          </p:cNvPr>
          <p:cNvSpPr txBox="1"/>
          <p:nvPr/>
        </p:nvSpPr>
        <p:spPr>
          <a:xfrm>
            <a:off x="8628186" y="4716091"/>
            <a:ext cx="43305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fld id="{00000000-1234-1234-1234-123412341234}" type="slidenum">
              <a:rPr lang="uk" sz="1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12</a:t>
            </a:fld>
            <a:endParaRPr lang="uk-UA" dirty="0"/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04165D0A-5BE0-F0D7-071F-A04256C5E8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70053" y="745773"/>
            <a:ext cx="6468378" cy="1171739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708607C4-D7D9-3C12-CB75-7AAC46DDF3C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70053" y="745773"/>
            <a:ext cx="6392167" cy="1171739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26879A75-D374-D2BE-38BE-AA9D850A7A5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70052" y="750169"/>
            <a:ext cx="6392167" cy="1171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53849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>
          <a:extLst>
            <a:ext uri="{FF2B5EF4-FFF2-40B4-BE49-F238E27FC236}">
              <a16:creationId xmlns:a16="http://schemas.microsoft.com/office/drawing/2014/main" id="{9BD489E2-F2D7-94A8-2BE2-C24E3A5660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1">
            <a:extLst>
              <a:ext uri="{FF2B5EF4-FFF2-40B4-BE49-F238E27FC236}">
                <a16:creationId xmlns:a16="http://schemas.microsoft.com/office/drawing/2014/main" id="{4F945EB5-5C17-7F69-768C-8D18A9EA961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194934"/>
            <a:ext cx="9143999" cy="550839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 algn="ctr"/>
            <a:r>
              <a:rPr lang="uk-UA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Результати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навчання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на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датасеті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Amazon Toys</a:t>
            </a:r>
            <a:endParaRPr lang="ru-RU" sz="32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C80F3EC-CD82-1DBD-35E9-658B925FE231}"/>
              </a:ext>
            </a:extLst>
          </p:cNvPr>
          <p:cNvSpPr txBox="1"/>
          <p:nvPr/>
        </p:nvSpPr>
        <p:spPr>
          <a:xfrm>
            <a:off x="461709" y="2130767"/>
            <a:ext cx="859953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Модель S3Rec </a:t>
            </a:r>
            <a:r>
              <a:rPr 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перевищує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BERT4Rec на 11.4% за HR@10 та на 9.9% за NDCG@10.</a:t>
            </a:r>
          </a:p>
          <a:p>
            <a:r>
              <a:rPr 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Порівняно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з </a:t>
            </a:r>
            <a:r>
              <a:rPr 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SASRec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приріст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становить 9.6% за HR@10 та 5.3% за NDCG@10.</a:t>
            </a:r>
          </a:p>
          <a:p>
            <a:r>
              <a:rPr 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Найменший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час </a:t>
            </a:r>
            <a:r>
              <a:rPr 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навчання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має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SASRec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0.812 год.</a:t>
            </a:r>
            <a:endParaRPr lang="uk-UA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Google Shape;94;p17">
            <a:extLst>
              <a:ext uri="{FF2B5EF4-FFF2-40B4-BE49-F238E27FC236}">
                <a16:creationId xmlns:a16="http://schemas.microsoft.com/office/drawing/2014/main" id="{17BCC625-886D-FF84-ACEA-A96AF716FC8A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9664" y="4450773"/>
            <a:ext cx="725936" cy="497793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5A67741-CDE4-EF03-403C-CCE5CF128876}"/>
              </a:ext>
            </a:extLst>
          </p:cNvPr>
          <p:cNvSpPr txBox="1"/>
          <p:nvPr/>
        </p:nvSpPr>
        <p:spPr>
          <a:xfrm>
            <a:off x="8628186" y="4716091"/>
            <a:ext cx="43305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fld id="{00000000-1234-1234-1234-123412341234}" type="slidenum">
              <a:rPr lang="uk" sz="1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13</a:t>
            </a:fld>
            <a:endParaRPr lang="uk-UA" dirty="0"/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585B6B14-40AF-A503-6FE0-7CD4FA2F24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70053" y="745773"/>
            <a:ext cx="6468378" cy="1171739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8187315C-4310-99C9-3ACA-CDA2B3070C2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70053" y="764826"/>
            <a:ext cx="6411220" cy="1152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91597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>
          <a:extLst>
            <a:ext uri="{FF2B5EF4-FFF2-40B4-BE49-F238E27FC236}">
              <a16:creationId xmlns:a16="http://schemas.microsoft.com/office/drawing/2014/main" id="{3D9614E8-CD1F-ACB3-CAA1-FE50A80884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1">
            <a:extLst>
              <a:ext uri="{FF2B5EF4-FFF2-40B4-BE49-F238E27FC236}">
                <a16:creationId xmlns:a16="http://schemas.microsoft.com/office/drawing/2014/main" id="{BAF8C34F-4523-549F-F1C7-369427E9051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194934"/>
            <a:ext cx="9143999" cy="550839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 algn="ctr"/>
            <a:r>
              <a:rPr lang="uk-UA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Результати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навчання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на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датасеті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Steam</a:t>
            </a:r>
            <a:endParaRPr lang="ru-RU" sz="32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77983DF-2970-4C55-BFEC-4FF9412153FA}"/>
              </a:ext>
            </a:extLst>
          </p:cNvPr>
          <p:cNvSpPr txBox="1"/>
          <p:nvPr/>
        </p:nvSpPr>
        <p:spPr>
          <a:xfrm>
            <a:off x="461709" y="2130767"/>
            <a:ext cx="859953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Різниця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між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моделями є </a:t>
            </a:r>
            <a:r>
              <a:rPr 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меншою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через </a:t>
            </a:r>
            <a:r>
              <a:rPr 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високу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щільність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даних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af-ZA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S3Rec </a:t>
            </a:r>
            <a:r>
              <a:rPr 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перевищує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f-ZA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BERT4Rec 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 2.7% за </a:t>
            </a:r>
            <a:r>
              <a:rPr lang="af-ZA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HR@10 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та на 2.8% за </a:t>
            </a:r>
            <a:r>
              <a:rPr lang="af-ZA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NDCG@10.</a:t>
            </a:r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af-ZA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SASRec </a:t>
            </a:r>
            <a:r>
              <a:rPr 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забезпечує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швидше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навчання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2.187 год </a:t>
            </a:r>
            <a:r>
              <a:rPr 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проти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6.842 год у </a:t>
            </a:r>
            <a:r>
              <a:rPr lang="af-ZA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S3Rec.</a:t>
            </a:r>
            <a:endParaRPr lang="uk-UA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Google Shape;94;p17">
            <a:extLst>
              <a:ext uri="{FF2B5EF4-FFF2-40B4-BE49-F238E27FC236}">
                <a16:creationId xmlns:a16="http://schemas.microsoft.com/office/drawing/2014/main" id="{7655E321-C20E-8FD4-B351-8933EF5AFC59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9664" y="4450773"/>
            <a:ext cx="725936" cy="497793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0B5DC23-06DE-3220-B47E-DB7BCFD1114E}"/>
              </a:ext>
            </a:extLst>
          </p:cNvPr>
          <p:cNvSpPr txBox="1"/>
          <p:nvPr/>
        </p:nvSpPr>
        <p:spPr>
          <a:xfrm>
            <a:off x="8628186" y="4716091"/>
            <a:ext cx="43305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fld id="{00000000-1234-1234-1234-123412341234}" type="slidenum">
              <a:rPr lang="uk" sz="1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14</a:t>
            </a:fld>
            <a:endParaRPr lang="uk-UA" dirty="0"/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88D2554E-BA47-9314-E154-F716621A04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70053" y="745773"/>
            <a:ext cx="6468378" cy="1171739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11B845C3-73E5-3FA0-1887-1E014EE3D3A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08158" y="764825"/>
            <a:ext cx="6392167" cy="1133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83324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>
          <a:extLst>
            <a:ext uri="{FF2B5EF4-FFF2-40B4-BE49-F238E27FC236}">
              <a16:creationId xmlns:a16="http://schemas.microsoft.com/office/drawing/2014/main" id="{364323D7-1FC2-C6E3-1E4D-0E28972E12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1">
            <a:extLst>
              <a:ext uri="{FF2B5EF4-FFF2-40B4-BE49-F238E27FC236}">
                <a16:creationId xmlns:a16="http://schemas.microsoft.com/office/drawing/2014/main" id="{A623E1AA-188A-E430-45B1-85A5E46ABBE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194934"/>
            <a:ext cx="9143999" cy="550839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 algn="ctr"/>
            <a:r>
              <a:rPr lang="uk-UA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Результати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навчання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на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датасеті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Yelp</a:t>
            </a:r>
            <a:endParaRPr lang="ru-RU" sz="32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99AA3E9-8AE5-34FF-F006-DB9699609A54}"/>
              </a:ext>
            </a:extLst>
          </p:cNvPr>
          <p:cNvSpPr txBox="1"/>
          <p:nvPr/>
        </p:nvSpPr>
        <p:spPr>
          <a:xfrm>
            <a:off x="461709" y="2130767"/>
            <a:ext cx="859953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S3Rec </a:t>
            </a:r>
            <a:r>
              <a:rPr 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перевершує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BERT4Rec на 2.1% за HR@10 та на 1.7% за NDCG@10.</a:t>
            </a:r>
          </a:p>
          <a:p>
            <a:r>
              <a:rPr 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Порівняно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з </a:t>
            </a:r>
            <a:r>
              <a:rPr 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SASRec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перевага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становить 4.5% за HR@10 та 3.3% за NDCG@10.</a:t>
            </a:r>
          </a:p>
          <a:p>
            <a:r>
              <a:rPr 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SASRec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залишається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найшвидшою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моделлю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1.426 год </a:t>
            </a:r>
            <a:r>
              <a:rPr 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навчання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uk-UA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Google Shape;94;p17">
            <a:extLst>
              <a:ext uri="{FF2B5EF4-FFF2-40B4-BE49-F238E27FC236}">
                <a16:creationId xmlns:a16="http://schemas.microsoft.com/office/drawing/2014/main" id="{C017AFA1-9CDE-3EAE-EA60-21A7B909FFF4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9664" y="4450773"/>
            <a:ext cx="725936" cy="497793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86F95C6-25FB-4670-AC7A-B6B6225DF546}"/>
              </a:ext>
            </a:extLst>
          </p:cNvPr>
          <p:cNvSpPr txBox="1"/>
          <p:nvPr/>
        </p:nvSpPr>
        <p:spPr>
          <a:xfrm>
            <a:off x="8628186" y="4716091"/>
            <a:ext cx="43305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fld id="{00000000-1234-1234-1234-123412341234}" type="slidenum">
              <a:rPr lang="uk" sz="1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15</a:t>
            </a:fld>
            <a:endParaRPr lang="uk-UA" dirty="0"/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28F02B8F-5FA6-563C-5ED4-817804F338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70053" y="745773"/>
            <a:ext cx="6468378" cy="1171739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D94C553D-5F81-31C7-A2A2-C5585E4AB4B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98632" y="741010"/>
            <a:ext cx="6411220" cy="1181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72261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>
          <a:extLst>
            <a:ext uri="{FF2B5EF4-FFF2-40B4-BE49-F238E27FC236}">
              <a16:creationId xmlns:a16="http://schemas.microsoft.com/office/drawing/2014/main" id="{908406B1-5978-DC23-B293-ADC767134B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1">
            <a:extLst>
              <a:ext uri="{FF2B5EF4-FFF2-40B4-BE49-F238E27FC236}">
                <a16:creationId xmlns:a16="http://schemas.microsoft.com/office/drawing/2014/main" id="{1289E441-8899-A967-62FD-0E53288CB81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194934"/>
            <a:ext cx="9143999" cy="550839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 algn="ctr"/>
            <a:r>
              <a:rPr lang="uk-UA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Аналіз результатів експерименту</a:t>
            </a:r>
            <a:endParaRPr lang="ru-RU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49B8B49-3BEA-AD4F-C462-BD21EA266A05}"/>
              </a:ext>
            </a:extLst>
          </p:cNvPr>
          <p:cNvSpPr txBox="1"/>
          <p:nvPr/>
        </p:nvSpPr>
        <p:spPr>
          <a:xfrm>
            <a:off x="1664677" y="745773"/>
            <a:ext cx="708213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af-ZA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SASRec: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 </a:t>
            </a:r>
            <a:r>
              <a:rPr lang="uk-UA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швидкість роботи 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 </a:t>
            </a:r>
            <a:r>
              <a:rPr lang="uk-UA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простота архітектури</a:t>
            </a:r>
            <a:br>
              <a:rPr lang="uk-UA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uk-UA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нижча точність </a:t>
            </a:r>
          </a:p>
          <a:p>
            <a:endParaRPr lang="af-ZA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af-ZA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BERT4Rec: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 </a:t>
            </a:r>
            <a:r>
              <a:rPr lang="uk-UA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висока якість рекомендацій 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 </a:t>
            </a:r>
            <a:r>
              <a:rPr lang="uk-UA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ефективне використання контексту</a:t>
            </a:r>
            <a:br>
              <a:rPr lang="uk-UA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uk-UA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вищі обчислювальні витрати </a:t>
            </a:r>
          </a:p>
          <a:p>
            <a:endParaRPr lang="af-ZA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af-ZA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S³-Rec: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 </a:t>
            </a:r>
            <a:r>
              <a:rPr lang="uk-UA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стійкість до розрідженості 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 </a:t>
            </a:r>
            <a:r>
              <a:rPr lang="uk-UA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найкраща </a:t>
            </a:r>
            <a:r>
              <a:rPr lang="uk-UA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узагальнювальна</a:t>
            </a:r>
            <a:r>
              <a:rPr lang="uk-UA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здатність</a:t>
            </a:r>
            <a:br>
              <a:rPr lang="uk-UA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uk-UA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складніше навчання</a:t>
            </a:r>
          </a:p>
        </p:txBody>
      </p:sp>
      <p:pic>
        <p:nvPicPr>
          <p:cNvPr id="3" name="Google Shape;94;p17">
            <a:extLst>
              <a:ext uri="{FF2B5EF4-FFF2-40B4-BE49-F238E27FC236}">
                <a16:creationId xmlns:a16="http://schemas.microsoft.com/office/drawing/2014/main" id="{E00C058E-DA62-FB19-A4AE-4FF377ED84B2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9664" y="4450773"/>
            <a:ext cx="725936" cy="497793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169D2D4-5AAE-EB59-CACC-E9C5B2146365}"/>
              </a:ext>
            </a:extLst>
          </p:cNvPr>
          <p:cNvSpPr txBox="1"/>
          <p:nvPr/>
        </p:nvSpPr>
        <p:spPr>
          <a:xfrm>
            <a:off x="8628186" y="4716091"/>
            <a:ext cx="43305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fld id="{00000000-1234-1234-1234-123412341234}" type="slidenum">
              <a:rPr lang="uk" sz="1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16</a:t>
            </a:fld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30336077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1"/>
          <p:cNvSpPr txBox="1">
            <a:spLocks noGrp="1"/>
          </p:cNvSpPr>
          <p:nvPr>
            <p:ph type="title"/>
          </p:nvPr>
        </p:nvSpPr>
        <p:spPr>
          <a:xfrm>
            <a:off x="171544" y="194934"/>
            <a:ext cx="8972455" cy="550839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 algn="ctr"/>
            <a:r>
              <a:rPr lang="uk-UA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Рекомендації за результатами дослідження</a:t>
            </a:r>
            <a:endParaRPr lang="ru-RU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9945031-BF46-457A-7873-71604F37F8D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 sz="1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17</a:t>
            </a:fld>
            <a:endParaRPr lang="uk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6DBA0AD-C097-F237-8865-DDE8574D8F92}"/>
              </a:ext>
            </a:extLst>
          </p:cNvPr>
          <p:cNvSpPr txBox="1"/>
          <p:nvPr/>
        </p:nvSpPr>
        <p:spPr>
          <a:xfrm>
            <a:off x="194991" y="885157"/>
            <a:ext cx="880091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Оптимальний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вибір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моделі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залежить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від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285750" indent="-285750">
              <a:buFont typeface="Symbol" panose="05050102010706020507" pitchFamily="18" charset="2"/>
              <a:buChar char="-"/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характеристик </a:t>
            </a:r>
            <a:r>
              <a:rPr 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даних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</a:p>
          <a:p>
            <a:pPr marL="285750" indent="-285750">
              <a:buFont typeface="Symbol" panose="05050102010706020507" pitchFamily="18" charset="2"/>
              <a:buChar char="-"/>
            </a:pPr>
            <a:r>
              <a:rPr 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обчислювальних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ресурсів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</a:p>
          <a:p>
            <a:pPr marL="285750" indent="-285750">
              <a:buFont typeface="Symbol" panose="05050102010706020507" pitchFamily="18" charset="2"/>
              <a:buChar char="-"/>
            </a:pPr>
            <a:r>
              <a:rPr 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вимог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до </a:t>
            </a:r>
            <a:r>
              <a:rPr 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швидкодії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та </a:t>
            </a:r>
            <a:r>
              <a:rPr 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точності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Практичні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рекомендації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Symbol" panose="05050102010706020507" pitchFamily="18" charset="2"/>
              <a:buChar char="-"/>
            </a:pPr>
            <a:r>
              <a:rPr 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SASRec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доцільно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використовувати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у системах з </a:t>
            </a:r>
            <a:r>
              <a:rPr 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обмеженими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ресурсами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285750" indent="-285750">
              <a:buFont typeface="Symbol" panose="05050102010706020507" pitchFamily="18" charset="2"/>
              <a:buChar char="-"/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BERT4Rec рекомендовано для задач </a:t>
            </a:r>
            <a:r>
              <a:rPr 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із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високими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вимогами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до </a:t>
            </a:r>
            <a:r>
              <a:rPr 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точності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Symbol" panose="05050102010706020507" pitchFamily="18" charset="2"/>
              <a:buChar char="-"/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S³-Rec </a:t>
            </a:r>
            <a:r>
              <a:rPr 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доцільно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застосовувати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для великих і </a:t>
            </a:r>
            <a:r>
              <a:rPr 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розріджених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датасетів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3" name="Google Shape;94;p17">
            <a:extLst>
              <a:ext uri="{FF2B5EF4-FFF2-40B4-BE49-F238E27FC236}">
                <a16:creationId xmlns:a16="http://schemas.microsoft.com/office/drawing/2014/main" id="{7A33F88C-DBF7-D54C-56EF-94FD0DDF4149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9664" y="4450773"/>
            <a:ext cx="725936" cy="49779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7870277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>
          <a:extLst>
            <a:ext uri="{FF2B5EF4-FFF2-40B4-BE49-F238E27FC236}">
              <a16:creationId xmlns:a16="http://schemas.microsoft.com/office/drawing/2014/main" id="{FF12AFDD-B7BA-A7A5-5630-0DA7EF7D74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1">
            <a:extLst>
              <a:ext uri="{FF2B5EF4-FFF2-40B4-BE49-F238E27FC236}">
                <a16:creationId xmlns:a16="http://schemas.microsoft.com/office/drawing/2014/main" id="{2FF4BB18-3589-5712-B646-53B16A407E6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29503" y="194934"/>
            <a:ext cx="7484994" cy="550839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Висновки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3079B12-DEC6-394B-48AF-5520FBE3FC2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 sz="1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18</a:t>
            </a:fld>
            <a:endParaRPr lang="uk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800B826-F0C7-7E98-0510-A225DAC1C193}"/>
              </a:ext>
            </a:extLst>
          </p:cNvPr>
          <p:cNvSpPr txBox="1"/>
          <p:nvPr/>
        </p:nvSpPr>
        <p:spPr>
          <a:xfrm>
            <a:off x="171545" y="885157"/>
            <a:ext cx="880091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26720" indent="-285750" algn="just">
              <a:buFont typeface="Symbol" panose="05050102010706020507" pitchFamily="18" charset="2"/>
              <a:buChar char=""/>
            </a:pPr>
            <a:r>
              <a:rPr lang="uk-UA" sz="1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проведено аналіз предметної області </a:t>
            </a:r>
            <a:r>
              <a:rPr lang="uk-UA" sz="18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секвенційних</a:t>
            </a:r>
            <a:r>
              <a:rPr lang="uk-UA" sz="1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рекомендаційних систем;</a:t>
            </a:r>
            <a:endParaRPr lang="en-US" sz="1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26720" indent="-285750" algn="just">
              <a:buFont typeface="Symbol" panose="05050102010706020507" pitchFamily="18" charset="2"/>
              <a:buChar char=""/>
            </a:pPr>
            <a:r>
              <a:rPr lang="uk-UA" sz="1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досліджено сучасні </a:t>
            </a:r>
            <a:r>
              <a:rPr lang="uk-UA" sz="18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трансформерні</a:t>
            </a:r>
            <a:r>
              <a:rPr lang="uk-UA" sz="1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архітектури;</a:t>
            </a:r>
            <a:endParaRPr lang="en-US" sz="1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26720" indent="-285750" algn="just">
              <a:buFont typeface="Symbol" panose="05050102010706020507" pitchFamily="18" charset="2"/>
              <a:buChar char=""/>
            </a:pPr>
            <a:r>
              <a:rPr lang="uk-UA" sz="1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виконано порівняльний аналіз моделей </a:t>
            </a:r>
            <a:r>
              <a:rPr lang="en-US" sz="18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SASRec</a:t>
            </a:r>
            <a:r>
              <a:rPr lang="en-US" sz="1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BERT4Rec </a:t>
            </a:r>
            <a:r>
              <a:rPr lang="uk-UA" sz="1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та </a:t>
            </a:r>
            <a:r>
              <a:rPr lang="en-US" sz="1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S³-Rec</a:t>
            </a:r>
            <a:r>
              <a:rPr lang="ru-RU" sz="1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;</a:t>
            </a:r>
            <a:endParaRPr lang="en-US" sz="1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26720" indent="-285750" algn="just">
              <a:buFont typeface="Symbol" panose="05050102010706020507" pitchFamily="18" charset="2"/>
              <a:buChar char=""/>
            </a:pPr>
            <a:r>
              <a:rPr lang="uk-UA" sz="1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встановлено переваги </a:t>
            </a:r>
            <a:r>
              <a:rPr lang="uk-UA" sz="18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трансформерних</a:t>
            </a:r>
            <a:r>
              <a:rPr lang="uk-UA" sz="1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моделей над традиційними підходами;</a:t>
            </a:r>
            <a:endParaRPr lang="en-US" sz="1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26720" indent="-285750" algn="just">
              <a:buFont typeface="Symbol" panose="05050102010706020507" pitchFamily="18" charset="2"/>
              <a:buChar char=""/>
            </a:pPr>
            <a:r>
              <a:rPr lang="uk-UA" sz="1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визначено компроміс між якістю рекомендацій та обчислювальними витратами;</a:t>
            </a:r>
            <a:endParaRPr lang="en-US" sz="1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26720" indent="-285750" algn="just">
              <a:buFont typeface="Symbol" panose="05050102010706020507" pitchFamily="18" charset="2"/>
              <a:buChar char=""/>
            </a:pPr>
            <a:r>
              <a:rPr lang="uk-UA" sz="1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найбільш ефективними виявилися </a:t>
            </a:r>
            <a:r>
              <a:rPr lang="en-US" sz="1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self-supervised </a:t>
            </a:r>
            <a:r>
              <a:rPr lang="uk-UA" sz="1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та двосторонні </a:t>
            </a:r>
            <a:r>
              <a:rPr lang="uk-UA" sz="18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трансформерні</a:t>
            </a:r>
            <a:r>
              <a:rPr lang="uk-UA" sz="1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підходи;</a:t>
            </a:r>
          </a:p>
          <a:p>
            <a:pPr marL="426720" indent="-285750" algn="just">
              <a:buFont typeface="Symbol" panose="05050102010706020507" pitchFamily="18" charset="2"/>
              <a:buChar char=""/>
            </a:pPr>
            <a:r>
              <a:rPr lang="uk-UA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результати роботи </a:t>
            </a:r>
            <a:r>
              <a:rPr 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прийняті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до </a:t>
            </a:r>
            <a:r>
              <a:rPr 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публікації</a:t>
            </a:r>
            <a:r>
              <a:rPr lang="uk-UA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в матеріалах 30-го Міжнародного молодіжного форуму «Радіоелектроніка та молодь у XXI столітті».</a:t>
            </a:r>
          </a:p>
        </p:txBody>
      </p:sp>
      <p:pic>
        <p:nvPicPr>
          <p:cNvPr id="3" name="Google Shape;94;p17">
            <a:extLst>
              <a:ext uri="{FF2B5EF4-FFF2-40B4-BE49-F238E27FC236}">
                <a16:creationId xmlns:a16="http://schemas.microsoft.com/office/drawing/2014/main" id="{B67E255E-70FD-3D8D-34EA-A715A41E206D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9664" y="4450773"/>
            <a:ext cx="725936" cy="49779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989559798"/>
      </p:ext>
    </p:extLst>
  </p:cSld>
  <p:clrMapOvr>
    <a:masterClrMapping/>
  </p:clrMapOvr>
</p:sld>
</file>

<file path=ppt/theme/theme1.xml><?xml version="1.0" encoding="utf-8"?>
<a:theme xmlns:a="http://schemas.openxmlformats.org/drawingml/2006/main" name="Luxe">
  <a:themeElements>
    <a:clrScheme name="Luxe">
      <a:dk1>
        <a:srgbClr val="000000"/>
      </a:dk1>
      <a:lt1>
        <a:srgbClr val="FFFFFF"/>
      </a:lt1>
      <a:dk2>
        <a:srgbClr val="B7B7B7"/>
      </a:dk2>
      <a:lt2>
        <a:srgbClr val="CCA677"/>
      </a:lt2>
      <a:accent1>
        <a:srgbClr val="5D4037"/>
      </a:accent1>
      <a:accent2>
        <a:srgbClr val="455A64"/>
      </a:accent2>
      <a:accent3>
        <a:srgbClr val="57BB8A"/>
      </a:accent3>
      <a:accent4>
        <a:srgbClr val="78909C"/>
      </a:accent4>
      <a:accent5>
        <a:srgbClr val="607D8B"/>
      </a:accent5>
      <a:accent6>
        <a:srgbClr val="DCE755"/>
      </a:accent6>
      <a:hlink>
        <a:srgbClr val="607D8B"/>
      </a:hlink>
      <a:folHlink>
        <a:srgbClr val="607D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5058</TotalTime>
  <Words>998</Words>
  <Application>Microsoft Office PowerPoint</Application>
  <PresentationFormat>Екран (16:9)</PresentationFormat>
  <Paragraphs>166</Paragraphs>
  <Slides>18</Slides>
  <Notes>18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слайдів</vt:lpstr>
      </vt:variant>
      <vt:variant>
        <vt:i4>18</vt:i4>
      </vt:variant>
    </vt:vector>
  </HeadingPairs>
  <TitlesOfParts>
    <vt:vector size="24" baseType="lpstr">
      <vt:lpstr>Arial</vt:lpstr>
      <vt:lpstr>Economica</vt:lpstr>
      <vt:lpstr>Times New Roman</vt:lpstr>
      <vt:lpstr>Symbol</vt:lpstr>
      <vt:lpstr>Open Sans</vt:lpstr>
      <vt:lpstr>Luxe</vt:lpstr>
      <vt:lpstr>Кваліфікаційна робота Спеціальність 121 – Інженерія програмного забезпечення  Дослідження трансформерних моделей у секвенційних рекомендаційних системах з метою визначення найефективніших моделей</vt:lpstr>
      <vt:lpstr>Актуальність дослідження</vt:lpstr>
      <vt:lpstr>Мета та завдання дослідження</vt:lpstr>
      <vt:lpstr>Предметна область дослідження – Секвенційні рекомендаційні системи </vt:lpstr>
      <vt:lpstr>Аналіз існуючих підходів</vt:lpstr>
      <vt:lpstr>Аналіз трансформерних моделей</vt:lpstr>
      <vt:lpstr>Постановка задачі дослідження</vt:lpstr>
      <vt:lpstr>Програмний застосунок для проведення дослідження</vt:lpstr>
      <vt:lpstr>Вибір датасетів</vt:lpstr>
      <vt:lpstr>Налаштування конфігурації моделей</vt:lpstr>
      <vt:lpstr>Результати навчання на датасеті Amazon Beauty</vt:lpstr>
      <vt:lpstr>Результати навчання на датасеті Amazon Sports</vt:lpstr>
      <vt:lpstr>Результати навчання на датасеті Amazon Toys</vt:lpstr>
      <vt:lpstr>Результати навчання на датасеті Steam</vt:lpstr>
      <vt:lpstr>Результати навчання на датасеті Yelp</vt:lpstr>
      <vt:lpstr>Аналіз результатів експерименту</vt:lpstr>
      <vt:lpstr>Рекомендації за результатами дослідження</vt:lpstr>
      <vt:lpstr>Висновки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Дослідження методів обробки розподілених транзакцій в мікросервісній архітектурі на основі патерну SAGA</dc:title>
  <cp:lastModifiedBy>Влад Суботін</cp:lastModifiedBy>
  <cp:revision>131</cp:revision>
  <dcterms:modified xsi:type="dcterms:W3CDTF">2026-05-08T20:23:36Z</dcterms:modified>
</cp:coreProperties>
</file>
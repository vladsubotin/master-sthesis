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9" r:id="rId4"/>
    <p:sldId id="262" r:id="rId5"/>
    <p:sldId id="273" r:id="rId6"/>
    <p:sldId id="260" r:id="rId7"/>
    <p:sldId id="272" r:id="rId8"/>
    <p:sldId id="270" r:id="rId9"/>
    <p:sldId id="263" r:id="rId10"/>
    <p:sldId id="271" r:id="rId11"/>
    <p:sldId id="283" r:id="rId12"/>
    <p:sldId id="288" r:id="rId13"/>
    <p:sldId id="289" r:id="rId14"/>
    <p:sldId id="290" r:id="rId15"/>
    <p:sldId id="291" r:id="rId16"/>
    <p:sldId id="287" r:id="rId17"/>
    <p:sldId id="285" r:id="rId18"/>
    <p:sldId id="286" r:id="rId19"/>
  </p:sldIdLst>
  <p:sldSz cx="9144000" cy="5143500" type="screen16x9"/>
  <p:notesSz cx="6858000" cy="9144000"/>
  <p:embeddedFontLst>
    <p:embeddedFont>
      <p:font typeface="Economica" panose="020B0604020202020204" charset="0"/>
      <p:regular r:id="rId21"/>
      <p:bold r:id="rId22"/>
      <p:italic r:id="rId23"/>
      <p:boldItalic r:id="rId24"/>
    </p:embeddedFont>
    <p:embeddedFont>
      <p:font typeface="Open Sans" panose="020B0606030504020204" pitchFamily="3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94694"/>
  </p:normalViewPr>
  <p:slideViewPr>
    <p:cSldViewPr snapToGrid="0">
      <p:cViewPr>
        <p:scale>
          <a:sx n="66" d="100"/>
          <a:sy n="66" d="100"/>
        </p:scale>
        <p:origin x="1891" y="6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3818552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68700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1733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2495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6049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97835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360158C5-49DA-D58E-7F95-5202D648C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A50BB298-12AE-0E99-D044-7C8C54E39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17B3F41D-3BE3-16A6-C271-269C65A295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97030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8503F66F-1FA3-4555-57A8-6B33BFE78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EE621DC1-E099-34B2-2B25-9CDF4E8BC3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5489AD25-7F27-5EA5-439F-A5C70D5489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2299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774CA0E1-AD52-89AC-FABD-BB6E7F2F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28ACB645-2DF1-5F84-CB83-FA76BDEF2C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C1ABB9A1-BF82-8929-2EB3-4748C079D1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2362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3284EFB0-1B92-0C63-1CF9-0A47E892D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6E859ABB-257E-B55D-7130-594F571718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01CE215C-BFCD-C1CC-FBEE-A73D19FE07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6951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AE75D865-DCAF-92FF-BBDE-2316790C0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8522FD01-423F-CA6C-8682-6D0DD9239E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307A4ED5-6487-C417-4C04-3908D1556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4004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60237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94CCE8A3-BEE1-FA72-8AB1-761CE9E38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>
            <a:extLst>
              <a:ext uri="{FF2B5EF4-FFF2-40B4-BE49-F238E27FC236}">
                <a16:creationId xmlns:a16="http://schemas.microsoft.com/office/drawing/2014/main" id="{A0070E64-6846-B7D2-89F9-4A74BA6979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>
            <a:extLst>
              <a:ext uri="{FF2B5EF4-FFF2-40B4-BE49-F238E27FC236}">
                <a16:creationId xmlns:a16="http://schemas.microsoft.com/office/drawing/2014/main" id="{82A65E2B-36FF-D434-33F7-A86C72F969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3496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uk-UA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uk-UA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‹№›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1422569" y="1937385"/>
            <a:ext cx="6298862" cy="151213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Кваліфікаційна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робота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Спеціальність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121 –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Інженерія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програмного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забезпечення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 err="1"/>
              <a:t>Дослідження</a:t>
            </a:r>
            <a:r>
              <a:rPr lang="ru-RU" sz="2400" dirty="0"/>
              <a:t> </a:t>
            </a:r>
            <a:r>
              <a:rPr lang="ru-RU" sz="2400" dirty="0" err="1"/>
              <a:t>трансформерних</a:t>
            </a:r>
            <a:r>
              <a:rPr lang="ru-RU" sz="2400" dirty="0"/>
              <a:t> моделей машинного </a:t>
            </a:r>
            <a:r>
              <a:rPr lang="ru-RU" sz="2400" dirty="0" err="1"/>
              <a:t>навчання</a:t>
            </a:r>
            <a:r>
              <a:rPr lang="ru-RU" sz="2400" dirty="0"/>
              <a:t> у </a:t>
            </a:r>
            <a:r>
              <a:rPr lang="ru-RU" sz="2400" dirty="0" err="1"/>
              <a:t>секвенційних</a:t>
            </a:r>
            <a:r>
              <a:rPr lang="ru-RU" sz="2400" dirty="0"/>
              <a:t> </a:t>
            </a:r>
            <a:r>
              <a:rPr lang="ru-RU" sz="2400" dirty="0" err="1"/>
              <a:t>рекомендаційних</a:t>
            </a:r>
            <a:r>
              <a:rPr lang="ru-RU" sz="2400"/>
              <a:t> системах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6038359" y="3498919"/>
            <a:ext cx="3366143" cy="1644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Виконав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ст. гр. ІПЗм-24-1 Суботін В.А.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Керівник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доцент каф. ПІ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Лещинська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І.О.</a:t>
            </a:r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1409154" y="99939"/>
            <a:ext cx="6325692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Актуальність дослідження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268924" y="1187362"/>
            <a:ext cx="8593721" cy="31268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algn="just">
              <a:buFont typeface="Symbol" panose="05050102010706020507" pitchFamily="18" charset="2"/>
              <a:buChar char=""/>
            </a:pP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сучасні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цифрові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сервіси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активно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використовують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персоналізовані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рекомендації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algn="just">
              <a:buFont typeface="Symbol" panose="05050102010706020507" pitchFamily="18" charset="2"/>
              <a:buChar char=""/>
            </a:pP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поведінка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користувачів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має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часову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структуру та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динамічний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характер;</a:t>
            </a:r>
          </a:p>
          <a:p>
            <a:pPr algn="just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к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ласичні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рекомендаційні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методи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недостатньо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ефективні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для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моделювання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довгострокових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залежностей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рансформерні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моделі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дозволяють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враховувати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глобальні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залежності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між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елементами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послідовності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buFont typeface="Symbol" panose="05050102010706020507" pitchFamily="18" charset="2"/>
              <a:buChar char=""/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ктуальною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залишається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проблема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вибору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оптимальної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трансформерної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архітектури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з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урахуванням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точності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рекомендацій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обчислювальних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витрат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масштабованості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та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стабільності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роботи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F341B41-E99B-3086-FE3C-5601958757E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726831" y="155837"/>
            <a:ext cx="792894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Мета та завдання дослідження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268925" y="940628"/>
            <a:ext cx="8635969" cy="32622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32385" indent="0" algn="just">
              <a:lnSpc>
                <a:spcPct val="100000"/>
              </a:lnSpc>
              <a:buSzPts val="1400"/>
              <a:buNone/>
              <a:tabLst>
                <a:tab pos="630555" algn="l"/>
              </a:tabLst>
            </a:pPr>
            <a:r>
              <a:rPr lang="uk-UA" sz="173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Об’єкт – процес формування рекомендацій в </a:t>
            </a:r>
            <a:r>
              <a:rPr lang="uk-UA" sz="173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секвенційних</a:t>
            </a:r>
            <a:r>
              <a:rPr lang="uk-UA" sz="173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рекомендаційних системах.</a:t>
            </a:r>
          </a:p>
          <a:p>
            <a:pPr marL="0" marR="32385" indent="0" algn="just">
              <a:lnSpc>
                <a:spcPct val="100000"/>
              </a:lnSpc>
              <a:buSzPts val="1400"/>
              <a:buNone/>
              <a:tabLst>
                <a:tab pos="630555" algn="l"/>
              </a:tabLst>
            </a:pPr>
            <a:r>
              <a:rPr lang="uk-UA" sz="175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Предмет – моделі, засновані на </a:t>
            </a:r>
            <a:r>
              <a:rPr lang="uk-UA" sz="175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трансформерній</a:t>
            </a:r>
            <a:r>
              <a:rPr lang="uk-UA" sz="175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архітектурі.</a:t>
            </a:r>
          </a:p>
          <a:p>
            <a:pPr marL="0" marR="32385" indent="0" algn="just">
              <a:lnSpc>
                <a:spcPct val="100000"/>
              </a:lnSpc>
              <a:buSzPts val="1400"/>
              <a:buNone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Мета – дослідження ефективності використання </a:t>
            </a:r>
            <a:r>
              <a:rPr lang="uk-UA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трансформерних</a:t>
            </a: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моделей для побудови </a:t>
            </a:r>
            <a:r>
              <a:rPr lang="uk-UA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секвенційних</a:t>
            </a: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рекомендаційних систем.</a:t>
            </a:r>
          </a:p>
          <a:p>
            <a:pPr marL="0" marR="32385" indent="0" algn="just">
              <a:lnSpc>
                <a:spcPct val="100000"/>
              </a:lnSpc>
              <a:buSzPts val="1400"/>
              <a:buNone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Завдання:</a:t>
            </a:r>
          </a:p>
          <a:p>
            <a:pPr marL="285750" marR="32385" indent="-285750" algn="just">
              <a:lnSpc>
                <a:spcPct val="100000"/>
              </a:lnSpc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предметної області </a:t>
            </a:r>
            <a:r>
              <a:rPr lang="uk-UA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секвенційних</a:t>
            </a: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рекомендаційних систем;</a:t>
            </a:r>
          </a:p>
          <a:p>
            <a:pPr marL="285750" marR="32385" indent="-285750" algn="just">
              <a:lnSpc>
                <a:spcPct val="100000"/>
              </a:lnSpc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огляд сучасних наукових підходів;</a:t>
            </a:r>
          </a:p>
          <a:p>
            <a:pPr marL="285750" marR="32385" indent="-285750" algn="just">
              <a:lnSpc>
                <a:spcPct val="100000"/>
              </a:lnSpc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</a:t>
            </a:r>
            <a:r>
              <a:rPr lang="uk-UA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трансформерних</a:t>
            </a: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uk-UA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архітектур</a:t>
            </a: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285750" marR="32385" indent="-285750" algn="just">
              <a:lnSpc>
                <a:spcPct val="100000"/>
              </a:lnSpc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проведення експериментального дослідження;</a:t>
            </a:r>
          </a:p>
          <a:p>
            <a:pPr marL="285750" marR="32385" indent="-285750" algn="just">
              <a:lnSpc>
                <a:spcPct val="100000"/>
              </a:lnSpc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отриманих результатів.</a:t>
            </a: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4B60CC4-E5DD-FCCF-1B7D-8C3F29E9B85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2;p17">
            <a:extLst>
              <a:ext uri="{FF2B5EF4-FFF2-40B4-BE49-F238E27FC236}">
                <a16:creationId xmlns:a16="http://schemas.microsoft.com/office/drawing/2014/main" id="{1DD13922-8256-1DBA-1E6A-7A7E32F7C6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86683"/>
            <a:ext cx="9144000" cy="156627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uk-UA" dirty="0">
                <a:solidFill>
                  <a:srgbClr val="2626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Предметна область дослідження </a:t>
            </a:r>
            <a:r>
              <a:rPr lang="en-US" dirty="0">
                <a:solidFill>
                  <a:srgbClr val="2626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uk-UA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Секвенційні</a:t>
            </a:r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рекомендаційні системи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5BF92C3F-A4ED-1673-0D1E-10EE61551B9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FD1849-5B1C-E455-7301-BC9E27427F74}"/>
              </a:ext>
            </a:extLst>
          </p:cNvPr>
          <p:cNvSpPr txBox="1"/>
          <p:nvPr/>
        </p:nvSpPr>
        <p:spPr>
          <a:xfrm>
            <a:off x="268925" y="1234055"/>
            <a:ext cx="859421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Задача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uk-UA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рогнозування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наступного об’єкта взаємодії користувача на основі історії його дій.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Основні особливості: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динамічність поведінки користувачів;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наявність короткострокових і довгострокових </a:t>
            </a:r>
            <a:r>
              <a:rPr lang="uk-UA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залежностей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розрідженість даних;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необхідність масштабованості.</a:t>
            </a:r>
          </a:p>
          <a:p>
            <a:pPr lvl="2"/>
            <a:r>
              <a:rPr lang="uk-UA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Секвенційні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рекомендаційні системи враховують: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3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порядок взаємодій користувача;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3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часові залежності;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4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зміну інтересів у часі.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Google Shape;94;p17">
            <a:extLst>
              <a:ext uri="{FF2B5EF4-FFF2-40B4-BE49-F238E27FC236}">
                <a16:creationId xmlns:a16="http://schemas.microsoft.com/office/drawing/2014/main" id="{CC245FDA-AC4B-DF0C-29BC-F6FF19F7D0F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2;p17">
            <a:extLst>
              <a:ext uri="{FF2B5EF4-FFF2-40B4-BE49-F238E27FC236}">
                <a16:creationId xmlns:a16="http://schemas.microsoft.com/office/drawing/2014/main" id="{1DD13922-8256-1DBA-1E6A-7A7E32F7C6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8186" y="110670"/>
            <a:ext cx="8704412" cy="6943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 існуючих підходів</a:t>
            </a:r>
            <a:endParaRPr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DE914E-5891-C7BD-238B-C5232D122EB4}"/>
              </a:ext>
            </a:extLst>
          </p:cNvPr>
          <p:cNvSpPr txBox="1"/>
          <p:nvPr/>
        </p:nvSpPr>
        <p:spPr>
          <a:xfrm>
            <a:off x="298186" y="1201135"/>
            <a:ext cx="838861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Рекурентні моделі (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RNN, GRU):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ефективні для коротких послідовностей;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складно моделюють довгострокові залежності. </a:t>
            </a:r>
          </a:p>
          <a:p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Згорткові моделі (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CNN):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швидші за рекурентні;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обмежена гнучкість аналізу контексту. </a:t>
            </a:r>
          </a:p>
          <a:p>
            <a:r>
              <a:rPr lang="uk-UA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Трансформерні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моделі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використовують механізм 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self-attention;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враховують глобальні залежності;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забезпечують високу якість рекомендацій.</a:t>
            </a: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5BF92C3F-A4ED-1673-0D1E-10EE61551B9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4323DE51-2053-C025-C294-8D5D074E32F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0973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50393"/>
            <a:ext cx="8704412" cy="81765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 </a:t>
            </a:r>
            <a:r>
              <a:rPr lang="uk-U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трансформерних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моделей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11700" y="738555"/>
            <a:ext cx="8520600" cy="36209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114300" indent="0" algn="just">
              <a:lnSpc>
                <a:spcPct val="120000"/>
              </a:lnSpc>
              <a:buNone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 err="1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автогресивна</a:t>
            </a: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dirty="0" err="1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трансформерна</a:t>
            </a: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модель;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використовує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causal masking;</a:t>
            </a: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добре працює з короткими та середніми послідовностями.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 algn="just">
              <a:lnSpc>
                <a:spcPct val="120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BERT4Rec</a:t>
            </a: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двостороння </a:t>
            </a:r>
            <a:r>
              <a:rPr lang="uk-UA" dirty="0" err="1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трансформерна</a:t>
            </a: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модель;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використовує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masked item prediction;</a:t>
            </a: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краще враховує контекст послідовності.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 algn="just">
              <a:lnSpc>
                <a:spcPct val="120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S³-Rec</a:t>
            </a: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self-supervised </a:t>
            </a: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підхід;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використовує допоміжні задачі навчання;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  <a:buFont typeface="Symbol" panose="05050102010706020507" pitchFamily="18" charset="2"/>
              <a:buChar char="-"/>
            </a:pPr>
            <a:r>
              <a:rPr lang="uk-UA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ефективний для розріджених даних.</a:t>
            </a: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5A510-FA14-7D01-2A41-1EF26EAA361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2;p17">
            <a:extLst>
              <a:ext uri="{FF2B5EF4-FFF2-40B4-BE49-F238E27FC236}">
                <a16:creationId xmlns:a16="http://schemas.microsoft.com/office/drawing/2014/main" id="{1DD13922-8256-1DBA-1E6A-7A7E32F7C6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8186" y="110670"/>
            <a:ext cx="8704412" cy="6943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задачі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дослідження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DE914E-5891-C7BD-238B-C5232D122EB4}"/>
              </a:ext>
            </a:extLst>
          </p:cNvPr>
          <p:cNvSpPr txBox="1"/>
          <p:nvPr/>
        </p:nvSpPr>
        <p:spPr>
          <a:xfrm>
            <a:off x="574431" y="863590"/>
            <a:ext cx="832408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експерименту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визначення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найбільш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ефективної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трансформерної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архітектури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секвенційних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експерименту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розробка програмного застосунку для проведення дослідження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підготовка </a:t>
            </a:r>
            <a:r>
              <a:rPr lang="uk-UA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датасетів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попередня обробка даних;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налаштування конфігурацій моделей;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 моделей;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оцінка результатів;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порівняльний аналіз моделей;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надання рекомендацій щодо застосування.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Критерії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оцінювання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HR@K, NDCG@K.</a:t>
            </a: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5BF92C3F-A4ED-1673-0D1E-10EE61551B9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D8966FE0-7E8B-B211-9D52-533E180AD05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53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2;p17">
            <a:extLst>
              <a:ext uri="{FF2B5EF4-FFF2-40B4-BE49-F238E27FC236}">
                <a16:creationId xmlns:a16="http://schemas.microsoft.com/office/drawing/2014/main" id="{1DD13922-8256-1DBA-1E6A-7A7E32F7C6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6240" y="127184"/>
            <a:ext cx="8704412" cy="88006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застосунок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проведення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дослідження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0B1477-9937-3F20-40B2-1C8EAB41668A}"/>
              </a:ext>
            </a:extLst>
          </p:cNvPr>
          <p:cNvSpPr txBox="1"/>
          <p:nvPr/>
        </p:nvSpPr>
        <p:spPr>
          <a:xfrm>
            <a:off x="276240" y="3568927"/>
            <a:ext cx="8299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Python 3.12, </a:t>
            </a:r>
            <a:r>
              <a:rPr lang="en-US" sz="2000" dirty="0" err="1"/>
              <a:t>RecBole</a:t>
            </a:r>
            <a:r>
              <a:rPr lang="ru-RU" sz="2000" dirty="0"/>
              <a:t> 1.2.1</a:t>
            </a:r>
            <a:endParaRPr lang="x-non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Google Shape;94;p17">
            <a:extLst>
              <a:ext uri="{FF2B5EF4-FFF2-40B4-BE49-F238E27FC236}">
                <a16:creationId xmlns:a16="http://schemas.microsoft.com/office/drawing/2014/main" id="{237F1921-846E-7C96-C087-67172FF245E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F9E1C805-9048-F190-EBD3-CAD78AB6048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F87A839-A7D6-37BE-C630-AC375A8603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191" y="1217091"/>
            <a:ext cx="7717617" cy="23420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54104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202249"/>
            <a:ext cx="8520600" cy="75604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Виб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ір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датасетів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Google Shape;114;p20"/>
          <p:cNvSpPr txBox="1">
            <a:spLocks noGrp="1"/>
          </p:cNvSpPr>
          <p:nvPr>
            <p:ph type="body" idx="1"/>
          </p:nvPr>
        </p:nvSpPr>
        <p:spPr>
          <a:xfrm>
            <a:off x="185401" y="906687"/>
            <a:ext cx="3385112" cy="31797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af-ZA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 (Beauty, Sports, Toys)</a:t>
            </a:r>
            <a:r>
              <a:rPr 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af-ZA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af-Z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e-commerce </a:t>
            </a:r>
            <a:r>
              <a:rPr lang="uk-UA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датасети</a:t>
            </a: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f-Z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af-ZA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розріджені послідовності взаємодій; 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велика кількість товарів;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перевірка масштабованості моделей. </a:t>
            </a:r>
          </a:p>
          <a:p>
            <a:pPr marL="11430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2091FA-014C-BBFC-B0D9-989D0A04AE32}"/>
              </a:ext>
            </a:extLst>
          </p:cNvPr>
          <p:cNvSpPr txBox="1"/>
          <p:nvPr/>
        </p:nvSpPr>
        <p:spPr>
          <a:xfrm>
            <a:off x="6089304" y="958290"/>
            <a:ext cx="32625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f-ZA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Yelp</a:t>
            </a:r>
            <a:r>
              <a:rPr 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af-ZA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взаємодії користувачів із сервісами;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динамічна поведінка користувачів;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неоднорідні послідовності;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 стійкості моделей.</a:t>
            </a:r>
          </a:p>
          <a:p>
            <a:pPr indent="0" algn="just">
              <a:lnSpc>
                <a:spcPct val="100000"/>
              </a:lnSpc>
              <a:buNone/>
            </a:pPr>
            <a:endParaRPr lang="x-non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30159A66-8141-E616-0B57-98CD367193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A6B698-F99E-CAE0-3760-36FF6BF314AE}"/>
              </a:ext>
            </a:extLst>
          </p:cNvPr>
          <p:cNvCxnSpPr>
            <a:cxnSpLocks/>
          </p:cNvCxnSpPr>
          <p:nvPr/>
        </p:nvCxnSpPr>
        <p:spPr>
          <a:xfrm>
            <a:off x="6012822" y="958290"/>
            <a:ext cx="0" cy="11317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oogle Shape;94;p17">
            <a:extLst>
              <a:ext uri="{FF2B5EF4-FFF2-40B4-BE49-F238E27FC236}">
                <a16:creationId xmlns:a16="http://schemas.microsoft.com/office/drawing/2014/main" id="{5A177767-B892-5FDB-D4A6-8907D955CB5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14;p20">
            <a:extLst>
              <a:ext uri="{FF2B5EF4-FFF2-40B4-BE49-F238E27FC236}">
                <a16:creationId xmlns:a16="http://schemas.microsoft.com/office/drawing/2014/main" id="{528E0236-7095-35AE-B752-7E9EFBC47141}"/>
              </a:ext>
            </a:extLst>
          </p:cNvPr>
          <p:cNvSpPr txBox="1">
            <a:spLocks/>
          </p:cNvSpPr>
          <p:nvPr/>
        </p:nvSpPr>
        <p:spPr>
          <a:xfrm>
            <a:off x="3155186" y="906687"/>
            <a:ext cx="3740712" cy="317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14300" indent="0">
              <a:buFont typeface="Open Sans"/>
              <a:buNone/>
            </a:pPr>
            <a:r>
              <a:rPr lang="af-ZA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</a:t>
            </a:r>
            <a:r>
              <a:rPr 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af-ZA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взаємодії користувачів з іграми;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довгі поведінкові послідовності;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динамічна зміна інтересів;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uk-U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 якості персоналізації.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9">
            <a:extLst>
              <a:ext uri="{FF2B5EF4-FFF2-40B4-BE49-F238E27FC236}">
                <a16:creationId xmlns:a16="http://schemas.microsoft.com/office/drawing/2014/main" id="{B30796B2-AE83-4611-2F7A-A0EFE9B673A8}"/>
              </a:ext>
            </a:extLst>
          </p:cNvPr>
          <p:cNvCxnSpPr>
            <a:cxnSpLocks/>
          </p:cNvCxnSpPr>
          <p:nvPr/>
        </p:nvCxnSpPr>
        <p:spPr>
          <a:xfrm>
            <a:off x="3218822" y="958290"/>
            <a:ext cx="0" cy="11317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50389E8-9886-CA16-4975-47FAF1A92F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995" y="2210222"/>
            <a:ext cx="6878010" cy="267689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BF9D1C9-DAB4-B6B2-6108-CDFE7F2C0E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980" y="2192778"/>
            <a:ext cx="6827882" cy="2537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-1" y="202249"/>
            <a:ext cx="9143999" cy="75604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Налаштування конфігурації моделей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Google Shape;114;p20"/>
          <p:cNvSpPr txBox="1">
            <a:spLocks noGrp="1"/>
          </p:cNvSpPr>
          <p:nvPr>
            <p:ph type="body" idx="1"/>
          </p:nvPr>
        </p:nvSpPr>
        <p:spPr>
          <a:xfrm>
            <a:off x="5343270" y="1024508"/>
            <a:ext cx="3403538" cy="38355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0215" indent="0" algn="just">
              <a:lnSpc>
                <a:spcPct val="100000"/>
              </a:lnSpc>
              <a:buNone/>
            </a:pPr>
            <a:r>
              <a:rPr lang="uk-UA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Параметри конфігурації:</a:t>
            </a: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64;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hidden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64;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num_layers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num_heads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dropout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0.2;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optimizer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Adam;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rate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0.001;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batch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256;</a:t>
            </a:r>
            <a:endParaRPr lang="uk-U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Font typeface="Symbol" panose="05050102010706020507" pitchFamily="18" charset="2"/>
              <a:buChar char="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epochs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200.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30159A66-8141-E616-0B57-98CD367193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Google Shape;94;p17">
            <a:extLst>
              <a:ext uri="{FF2B5EF4-FFF2-40B4-BE49-F238E27FC236}">
                <a16:creationId xmlns:a16="http://schemas.microsoft.com/office/drawing/2014/main" id="{E90F9BB4-9013-F9F9-D262-8DBF546EE4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14;p20">
            <a:extLst>
              <a:ext uri="{FF2B5EF4-FFF2-40B4-BE49-F238E27FC236}">
                <a16:creationId xmlns:a16="http://schemas.microsoft.com/office/drawing/2014/main" id="{5DB0D0D8-54DB-0780-0366-827AABD4AAB7}"/>
              </a:ext>
            </a:extLst>
          </p:cNvPr>
          <p:cNvSpPr txBox="1">
            <a:spLocks/>
          </p:cNvSpPr>
          <p:nvPr/>
        </p:nvSpPr>
        <p:spPr>
          <a:xfrm>
            <a:off x="239664" y="958290"/>
            <a:ext cx="4982307" cy="383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14300" indent="0">
              <a:buNone/>
            </a:pP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Однакові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умови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експерименту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Порівняння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моделей у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рівних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конфігураціях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Оптимізація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параметрів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для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стабільного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навчання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114300" indent="0">
              <a:buNone/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Sample-ranking.</a:t>
            </a:r>
          </a:p>
          <a:p>
            <a:pPr marL="114300" indent="0">
              <a:buNone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Критерії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оцінювання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HR@K, NDCG@K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x-none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0004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Beauty</a:t>
            </a:r>
            <a:endParaRPr lang="ru-RU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99309B-4316-727C-3CD4-B8C3999EC6E2}"/>
              </a:ext>
            </a:extLst>
          </p:cNvPr>
          <p:cNvSpPr txBox="1"/>
          <p:nvPr/>
        </p:nvSpPr>
        <p:spPr>
          <a:xfrm>
            <a:off x="461709" y="2130767"/>
            <a:ext cx="85995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перевершує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BERT4Rec на 8.3% за HR@10 та на 8.4% за NDCG@10.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Порівняно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приріст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становить 8.8% за HR@10 та 6.5% за NDCG@10.</a:t>
            </a:r>
            <a:b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Найшвидше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1.084 год,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3.6 раза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швидше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S3Rec.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2CFE879C-5D78-8386-7683-AA25E3BA75D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868A5C-298C-9006-A0D2-8469BFA6E4C7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11</a:t>
            </a:fld>
            <a:endParaRPr lang="uk-UA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3ECB1E3-213C-A702-CCD8-A1CF3CBB2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053" y="745773"/>
            <a:ext cx="6468378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308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A770B543-C0EC-879D-C873-70886770F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23113135-C439-ACDF-6781-2B7047CC0F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 Sports</a:t>
            </a:r>
            <a:endParaRPr lang="ru-RU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D95C84-2840-8963-C463-73FC9BF8E53C}"/>
              </a:ext>
            </a:extLst>
          </p:cNvPr>
          <p:cNvSpPr txBox="1"/>
          <p:nvPr/>
        </p:nvSpPr>
        <p:spPr>
          <a:xfrm>
            <a:off x="461709" y="2130767"/>
            <a:ext cx="85995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показує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перевагу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над BERT4Rec у 9.3% за HR@10 та 8.4%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Порівняно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модель 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вищі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10.4% за HR@10 та 6.4%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навчається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найшвидше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0.963 год,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тоді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як 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потребує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3.284 год.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023006B0-256B-C911-EE1C-EB829272F88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C9F4DA-6B66-1F17-168F-BA034EC158BB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12</a:t>
            </a:fld>
            <a:endParaRPr lang="uk-UA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4165D0A-5BE0-F0D7-071F-A04256C5E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053" y="745773"/>
            <a:ext cx="6468378" cy="117173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08607C4-D7D9-3C12-CB75-7AAC46DDF3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0053" y="745773"/>
            <a:ext cx="6392167" cy="117173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6879A75-D374-D2BE-38BE-AA9D850A7A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0052" y="750169"/>
            <a:ext cx="6392167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384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9BD489E2-F2D7-94A8-2BE2-C24E3A566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4F945EB5-5C17-7F69-768C-8D18A9EA96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 Toys</a:t>
            </a:r>
            <a:endParaRPr lang="ru-RU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80F3EC-CD82-1DBD-35E9-658B925FE231}"/>
              </a:ext>
            </a:extLst>
          </p:cNvPr>
          <p:cNvSpPr txBox="1"/>
          <p:nvPr/>
        </p:nvSpPr>
        <p:spPr>
          <a:xfrm>
            <a:off x="461709" y="2130767"/>
            <a:ext cx="85995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перевищує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BERT4Rec на 11.4% за HR@10 та на 9.9%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Порівняно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приріст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становить 9.6% за HR@10 та 5.3%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Найменший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час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0.812 год.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17BCC625-886D-FF84-ACEA-A96AF716FC8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A67741-CDE4-EF03-403C-CCE5CF128876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13</a:t>
            </a:fld>
            <a:endParaRPr lang="uk-UA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5B6B14-40AF-A503-6FE0-7CD4FA2F2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053" y="745773"/>
            <a:ext cx="6468378" cy="1171739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187315C-4310-99C9-3ACA-CDA2B3070C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0053" y="764826"/>
            <a:ext cx="6411220" cy="115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159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3D9614E8-CD1F-ACB3-CAA1-FE50A808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BAF8C34F-4523-549F-F1C7-369427E905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Steam</a:t>
            </a:r>
            <a:endParaRPr lang="ru-RU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7983DF-2970-4C55-BFEC-4FF9412153FA}"/>
              </a:ext>
            </a:extLst>
          </p:cNvPr>
          <p:cNvSpPr txBox="1"/>
          <p:nvPr/>
        </p:nvSpPr>
        <p:spPr>
          <a:xfrm>
            <a:off x="461709" y="2130767"/>
            <a:ext cx="85995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Різниця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між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моделями є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меншою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високу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щільність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перевищує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BERT4Rec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2.7% за 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HR@10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 на 2.8% за 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NDCG@10.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SASRec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швидше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2.187 год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проти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6.842 год у </a:t>
            </a:r>
            <a:r>
              <a:rPr lang="af-Z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S3Rec.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7655E321-C20E-8FD4-B351-8933EF5AFC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B5DC23-06DE-3220-B47E-DB7BCFD1114E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14</a:t>
            </a:fld>
            <a:endParaRPr lang="uk-UA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88D2554E-BA47-9314-E154-F716621A04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053" y="745773"/>
            <a:ext cx="6468378" cy="1171739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1B845C3-73E5-3FA0-1887-1E014EE3D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8158" y="764825"/>
            <a:ext cx="6392167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332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364323D7-1FC2-C6E3-1E4D-0E28972E1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A623E1AA-188A-E430-45B1-85A5E46ABB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Yelp</a:t>
            </a:r>
            <a:endParaRPr lang="ru-RU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9AA3E9-8AE5-34FF-F006-DB9699609A54}"/>
              </a:ext>
            </a:extLst>
          </p:cNvPr>
          <p:cNvSpPr txBox="1"/>
          <p:nvPr/>
        </p:nvSpPr>
        <p:spPr>
          <a:xfrm>
            <a:off x="461709" y="2130767"/>
            <a:ext cx="85995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S3Rec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перевершує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BERT4Rec на 2.1% за HR@10 та на 1.7%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Порівняно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перевага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становить 4.5% за HR@10 та 3.3% за NDCG@10.</a:t>
            </a:r>
          </a:p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залишається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найшвидшою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моделлю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1.426 год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навчання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C017AFA1-9CDE-3EAE-EA60-21A7B909FFF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6F95C6-25FB-4670-AC7A-B6B6225DF546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15</a:t>
            </a:fld>
            <a:endParaRPr lang="uk-UA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8F02B8F-5FA6-563C-5ED4-817804F33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053" y="745773"/>
            <a:ext cx="6468378" cy="1171739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94C553D-5F81-31C7-A2A2-C5585E4AB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8632" y="741010"/>
            <a:ext cx="6411220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226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908406B1-5978-DC23-B293-ADC76713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1289E441-8899-A967-62FD-0E53288CB8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94934"/>
            <a:ext cx="9143999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 результатів експерименту</a:t>
            </a:r>
            <a:endParaRPr lang="ru-RU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9B8B49-3BEA-AD4F-C462-BD21EA266A05}"/>
              </a:ext>
            </a:extLst>
          </p:cNvPr>
          <p:cNvSpPr txBox="1"/>
          <p:nvPr/>
        </p:nvSpPr>
        <p:spPr>
          <a:xfrm>
            <a:off x="239664" y="618658"/>
            <a:ext cx="278656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f-ZA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SASRec: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швидкість роботи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простота архітектури</a:t>
            </a:r>
            <a:b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нижча точність </a:t>
            </a: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E00C058E-DA62-FB19-A4AE-4FF377ED84B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169D2D4-5AAE-EB59-CACC-E9C5B2146365}"/>
              </a:ext>
            </a:extLst>
          </p:cNvPr>
          <p:cNvSpPr txBox="1"/>
          <p:nvPr/>
        </p:nvSpPr>
        <p:spPr>
          <a:xfrm>
            <a:off x="8628186" y="4716091"/>
            <a:ext cx="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16</a:t>
            </a:fld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1454F8-337C-287B-F39F-B8ABE8C2BDF9}"/>
              </a:ext>
            </a:extLst>
          </p:cNvPr>
          <p:cNvSpPr txBox="1"/>
          <p:nvPr/>
        </p:nvSpPr>
        <p:spPr>
          <a:xfrm>
            <a:off x="5921694" y="618658"/>
            <a:ext cx="313955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f-ZA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S³-Rec: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стійкість до розрідженості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найкраща </a:t>
            </a:r>
            <a:r>
              <a:rPr lang="uk-U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узагальнювальна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здатність</a:t>
            </a:r>
            <a:b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складніше навчання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D9A222-050F-EEF8-24E5-D824242014A7}"/>
              </a:ext>
            </a:extLst>
          </p:cNvPr>
          <p:cNvSpPr txBox="1"/>
          <p:nvPr/>
        </p:nvSpPr>
        <p:spPr>
          <a:xfrm>
            <a:off x="2481946" y="638058"/>
            <a:ext cx="34397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f-ZA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BERT4Rec: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висока якість рекомендацій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ефективне використання контексту</a:t>
            </a:r>
            <a:b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вищі обчислювальні витрати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269CA2A-9FCE-F364-38B7-2AEDD86D4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885" y="1829845"/>
            <a:ext cx="8665029" cy="2944965"/>
          </a:xfrm>
          <a:prstGeom prst="rect">
            <a:avLst/>
          </a:prstGeom>
        </p:spPr>
      </p:pic>
      <p:cxnSp>
        <p:nvCxnSpPr>
          <p:cNvPr id="11" name="Straight Connector 9">
            <a:extLst>
              <a:ext uri="{FF2B5EF4-FFF2-40B4-BE49-F238E27FC236}">
                <a16:creationId xmlns:a16="http://schemas.microsoft.com/office/drawing/2014/main" id="{8C29932A-9DE9-F83D-B1D8-DD6674AE61F4}"/>
              </a:ext>
            </a:extLst>
          </p:cNvPr>
          <p:cNvCxnSpPr>
            <a:cxnSpLocks/>
          </p:cNvCxnSpPr>
          <p:nvPr/>
        </p:nvCxnSpPr>
        <p:spPr>
          <a:xfrm>
            <a:off x="2355222" y="745773"/>
            <a:ext cx="0" cy="8463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">
            <a:extLst>
              <a:ext uri="{FF2B5EF4-FFF2-40B4-BE49-F238E27FC236}">
                <a16:creationId xmlns:a16="http://schemas.microsoft.com/office/drawing/2014/main" id="{55837792-3959-4475-5192-4CB7E847DE61}"/>
              </a:ext>
            </a:extLst>
          </p:cNvPr>
          <p:cNvCxnSpPr>
            <a:cxnSpLocks/>
          </p:cNvCxnSpPr>
          <p:nvPr/>
        </p:nvCxnSpPr>
        <p:spPr>
          <a:xfrm>
            <a:off x="5809622" y="745773"/>
            <a:ext cx="0" cy="8463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07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171544" y="194934"/>
            <a:ext cx="8972455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uk-UA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Рекомендації за результатами дослідження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945031-BF46-457A-7873-71604F37F8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DBA0AD-C097-F237-8865-DDE8574D8F92}"/>
              </a:ext>
            </a:extLst>
          </p:cNvPr>
          <p:cNvSpPr txBox="1"/>
          <p:nvPr/>
        </p:nvSpPr>
        <p:spPr>
          <a:xfrm>
            <a:off x="194991" y="885157"/>
            <a:ext cx="50591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Оптимальний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вибір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моделі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залежить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характеристик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обчислювальних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ресурсів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вимог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швидкодії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точності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7A33F88C-DBF7-D54C-56EF-94FD0DDF414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8A249A-A802-96C5-75FA-D9DF959E7511}"/>
              </a:ext>
            </a:extLst>
          </p:cNvPr>
          <p:cNvSpPr txBox="1"/>
          <p:nvPr/>
        </p:nvSpPr>
        <p:spPr>
          <a:xfrm>
            <a:off x="171544" y="2042352"/>
            <a:ext cx="421902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Практичні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рекомендації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SASRec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доцільно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використовувати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системах з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обмеженими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ресурсами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BERT4Rec рекомендовано для задач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із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складними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поведінковими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послідовностями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S³-Rec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доцільно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застосовувати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великих і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розріджених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датасетів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C5D320A-051D-8EF5-F516-D97D1C5D8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4018" y="1290168"/>
            <a:ext cx="4561421" cy="2786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7027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FF12AFDD-B7BA-A7A5-5630-0DA7EF7D7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>
            <a:extLst>
              <a:ext uri="{FF2B5EF4-FFF2-40B4-BE49-F238E27FC236}">
                <a16:creationId xmlns:a16="http://schemas.microsoft.com/office/drawing/2014/main" id="{2FF4BB18-3589-5712-B646-53B16A407E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9503" y="194934"/>
            <a:ext cx="7484994" cy="5508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Висновки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079B12-DEC6-394B-48AF-5520FBE3FC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uk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0B826-F0C7-7E98-0510-A225DAC1C193}"/>
              </a:ext>
            </a:extLst>
          </p:cNvPr>
          <p:cNvSpPr txBox="1"/>
          <p:nvPr/>
        </p:nvSpPr>
        <p:spPr>
          <a:xfrm>
            <a:off x="171544" y="885157"/>
            <a:ext cx="538016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32385" algn="just">
              <a:buSzPts val="1400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Було проведено: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предметної області;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огляд сучасних наукових підходів;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</a:t>
            </a:r>
            <a:r>
              <a:rPr lang="uk-UA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трансформерних</a:t>
            </a: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uk-UA" sz="18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архітектур</a:t>
            </a: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розробка програмного додатку;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експериментальне дослідження;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аналіз отриманих результатів.</a:t>
            </a:r>
          </a:p>
          <a:p>
            <a:pPr marL="285750" marR="32385" indent="-285750" algn="just">
              <a:buSzPts val="1400"/>
              <a:buFont typeface="Symbol" panose="05050102010706020507" pitchFamily="18" charset="2"/>
              <a:buChar char="-"/>
              <a:tabLst>
                <a:tab pos="630555" algn="l"/>
              </a:tabLst>
            </a:pP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 роботи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прийняті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публікації</a:t>
            </a:r>
            <a:r>
              <a:rPr lang="uk-UA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матеріалах 30-го Міжнародного молодіжного форуму «Радіоелектроніка та молодь у XXI столітті».</a:t>
            </a:r>
          </a:p>
        </p:txBody>
      </p:sp>
      <p:pic>
        <p:nvPicPr>
          <p:cNvPr id="3" name="Google Shape;94;p17">
            <a:extLst>
              <a:ext uri="{FF2B5EF4-FFF2-40B4-BE49-F238E27FC236}">
                <a16:creationId xmlns:a16="http://schemas.microsoft.com/office/drawing/2014/main" id="{B67E255E-70FD-3D8D-34EA-A715A41E20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64" y="4450773"/>
            <a:ext cx="725936" cy="497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4.jpg">
            <a:extLst>
              <a:ext uri="{FF2B5EF4-FFF2-40B4-BE49-F238E27FC236}">
                <a16:creationId xmlns:a16="http://schemas.microsoft.com/office/drawing/2014/main" id="{DD56BA0C-CFE4-64FD-E945-D7CFE0EF54DA}"/>
              </a:ext>
            </a:extLst>
          </p:cNvPr>
          <p:cNvPicPr/>
          <p:nvPr/>
        </p:nvPicPr>
        <p:blipFill>
          <a:blip r:embed="rId4"/>
          <a:srcRect t="6200"/>
          <a:stretch>
            <a:fillRect/>
          </a:stretch>
        </p:blipFill>
        <p:spPr>
          <a:xfrm>
            <a:off x="5421082" y="716745"/>
            <a:ext cx="3256266" cy="4202793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2989559798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6357</TotalTime>
  <Words>982</Words>
  <Application>Microsoft Office PowerPoint</Application>
  <PresentationFormat>Екран (16:9)</PresentationFormat>
  <Paragraphs>166</Paragraphs>
  <Slides>18</Slides>
  <Notes>18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18</vt:i4>
      </vt:variant>
    </vt:vector>
  </HeadingPairs>
  <TitlesOfParts>
    <vt:vector size="24" baseType="lpstr">
      <vt:lpstr>Open Sans</vt:lpstr>
      <vt:lpstr>Arial</vt:lpstr>
      <vt:lpstr>Times New Roman</vt:lpstr>
      <vt:lpstr>Economica</vt:lpstr>
      <vt:lpstr>Symbol</vt:lpstr>
      <vt:lpstr>Luxe</vt:lpstr>
      <vt:lpstr>Кваліфікаційна робота Спеціальність 121 – Інженерія програмного забезпечення  Дослідження трансформерних моделей машинного навчання у секвенційних рекомендаційних системах</vt:lpstr>
      <vt:lpstr>Актуальність дослідження</vt:lpstr>
      <vt:lpstr>Мета та завдання дослідження</vt:lpstr>
      <vt:lpstr>Предметна область дослідження – Секвенційні рекомендаційні системи </vt:lpstr>
      <vt:lpstr>Аналіз існуючих підходів</vt:lpstr>
      <vt:lpstr>Аналіз трансформерних моделей</vt:lpstr>
      <vt:lpstr>Постановка задачі дослідження</vt:lpstr>
      <vt:lpstr>Програмний застосунок для проведення дослідження</vt:lpstr>
      <vt:lpstr>Вибір датасетів</vt:lpstr>
      <vt:lpstr>Налаштування конфігурації моделей</vt:lpstr>
      <vt:lpstr>Результати навчання на датасеті Amazon Beauty</vt:lpstr>
      <vt:lpstr>Результати навчання на датасеті Amazon Sports</vt:lpstr>
      <vt:lpstr>Результати навчання на датасеті Amazon Toys</vt:lpstr>
      <vt:lpstr>Результати навчання на датасеті Steam</vt:lpstr>
      <vt:lpstr>Результати навчання на датасеті Yelp</vt:lpstr>
      <vt:lpstr>Аналіз результатів експерименту</vt:lpstr>
      <vt:lpstr>Рекомендації за результатами дослідження</vt:lpstr>
      <vt:lpstr>Висновки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методів обробки розподілених транзакцій в мікросервісній архітектурі на основі патерну SAGA</dc:title>
  <cp:lastModifiedBy>Владислав Суботін</cp:lastModifiedBy>
  <cp:revision>151</cp:revision>
  <dcterms:modified xsi:type="dcterms:W3CDTF">2026-05-14T15:26:32Z</dcterms:modified>
</cp:coreProperties>
</file>